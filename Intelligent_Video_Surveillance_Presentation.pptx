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guides, mentors, and evaluators. Today I am proud to present my completed internship project: 'Deep Learning-Based Intelligent Video Surveillance System', developed at GENKEI SOLUTIONS PRIVATE LIMITED. This project integrates real-time computer vision, multiple YOLO deep learning models, persistent multi-object tracking, automated evidence preservation in an SQLite database, and instant remote email dispatch via Gmail SMTP. Let us examine how this system bridges the gap between passive CCTV recording and proactive, autonomous threat mitigation.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begin, let us establish the context. Traditional surveillance relies heavily on human operators watching video walls. Research in human ergonomics proves that after just 20 minutes of continuous monitoring, an operator misses up to 90% of critical events due to cognitive fatigue. Our system shifts this paradigm from 'passive post-incident recording' to 'active real-time cognitive threat detection'. By harnessing modern YOLO deep learning architectures and ByteTrack, the system continuously analyzes camera frames, classifies complex hazards like fire, smoke, and weapons, and immediately secures photographic evidence and email notifications without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outline the fundamental problem. Conventional surveillance systems suffer from four critical deficiencies: First, human operator fatigue causes critical threats to slip by unnoticed. Second, reaction latency means security only discovers an intrusion or fire after escalation. Third, forensic analysis is exhausting—investigators must spend hours fast-forwarding through raw video tapes because there is no indexed event database. Fourth, remote stakeholders have zero visibility when away from the monitoring console. Our project was engineered specifically to solve all four of these pain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objectives define the clear technical scope of our project. Rather than just building a demo object detector, we established an end-to-end pipeline: 1. Real-time multi-person tracking with ByteTrack; 2. Geometric restricted-zone intrusion monitoring; 3. Multi-hazard fire and smoke detection; 4. Weapon identification for guns and knives; 5. An intelligent temporal confirmation state machine with cooldown logic to eliminate false positives; and 6. Complete forensic evidence preservation in SQLite and instant email notification via Gmail SMTP.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contrast traditional CCTV with our proposed solution. Traditional systems produce terabytes of unindexed video that no human can watch effectively. Our system brings automated intelligence directly to the video feed. By chaining specialized YOLO models for person tracking, fire/smoke detection, and weapon spotting, we achieve high detection accuracy. Furthermore, our dual storage strategy—saving timestamped evidence locally in SQLite and dispatching alerts over SMTP—ensures that both local investigators and remote administrators have instant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core five-stage system architecture. Stage 1 ingests frames via OpenCV VideoCapture. Stage 2 passes each frame into our AI detection engine comprising YOLO11n, ByteTrack, and our specialized fire and weapon models. Stage 3 evaluates spatial and temporal conditions—testing whether a person's centroid breached the restricted zone and confirming hazard persistence over 3 frames. Stage 4 writes evidence snapshots to disk and inserts metadata into SQLite. Finally, Stage 5 connects securely via TLS to Gmail SMTP on port 587 to deliver visual alerts straight to designated recipients.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comprehensive technology stack powering our application. We selected Python 3.11 for its performance optimizations and broad AI library support. OpenCV handles low-level camera operations, frame drawing, and snapshot writing. Ultralytics YOLO provides high-speed tensor inference on both YOLO11n and YOLOv8n architectures. ByteTrack provides multi-object tracking without requiring external server dependencies. Hugging Face Hub supplies pretrained weights for specialized safety classes, while SQLite3 provides lightweight, zero-configuration local database persistence. Finally, Python's smtplib handles authenticated Gmail delivery.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focuses on our first major feature: Person Detection and Tracking. We utilize Ultralytics' newest YOLO11n architecture loaded locally. By specifying classes=[0], we strictly isolate the human class from the 80 COCO categories. Crucially, we integrate ByteTrack with persist=True. ByteTrack is superior to older algorithms like SORT because it doesn't discard low-confidence bounding boxes—it uses Kalman filtering to keep tracking even if a person walks behind a pillar or momentarily turns away. An important point for evaluators: our tracking assigns unique track IDs to distinguish bodies across frames, but it is not facial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Feature 2: Restricted-Zone Intrusion Detection. We define a virtual rectangular perimeter from coordinates (200, 150) to (500, 400). For every tracked person, our algorithm computes their bounding box centroid—cx and cy. When this center point breaches the zone coordinates, an intrusion is confirmed. To avoid alert flooding while the intruder walks inside the zone, we maintain an 'intruders_inside' set. We also implemented a 15-frame grace buffer. If tracking drops momentarily due to a quick occlusion, the system does not forget the person and re-alert; only when the person has vacated the zone for more than 15 consecutive frames is their ID reset.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Fire and Smoke Detection capability. Instead of running two heavy models, we integrate a specialized YOLOv8 nano model from Hugging Face: rabahdev/fire-smoke-yolov8n. This model concurrently identifies open flames and smoke plumes in a single inference pass. We calibrated the confidence threshold to 0.35 and IoU to 0.45, ensuring that small incipient flames are detected early before spreading. The code normalizes class labels to uppercase and handles Fire and Smoke as independent event types, feeding them directly into our temporal confirmation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covers our Armed Threat Defense module. Weapon detection is one of the most critical aspects of active surveillance. We deploy a specialized YOLO11n weapon model downloaded from cosgun99/gun-knife-yolo11n on Hugging Face. The model identifies both firearms ('gun') and edged weapons ('knife'). To prevent everyday objects like smartphones or wallets from causing panic alarms, we calibrated the confidence threshold to 0.40. When detected, the system outlines the weapon in orange, logs a WEAPON_KNIFE or WEAPON_GUN event, and immediately executes our evidentiary capture sequence.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explains one of our most critical software engineering contributions: the Event Confirmation and Cooldown State Machine. In real-world computer vision, models frequently suffer from 1-frame glitches or flickers. If every single frame triggered an alert, the user would receive hundreds of false alarms. We engineered a temporal filter: a threat must persist for 3 consecutive frames before an alert is confirmed. Furthermore, we established a 10-frame clearing threshold to ensure the hazard has genuinely left the scene before resetting. Finally, we implemented a 30-second cooldown per event category. Crucially, this cooldown is independent—an ongoing intrusion alert will never block a fire or weapon alert.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forensic data preservation pipeline. Any surveillance system is only as good as its evidentiary chain of custody. When an alert is confirmed, save_event() generates a timestamped JPEG image with microsecond precision, saving it to alerts/. This screenshot contains the exact bounding box and detection score. Simultaneously, database_manager.py inserts an audit record into our SQLite database, security.db, storing the event type, tracking ID, timestamp, and image path. We also created view_alerts.py, allowing administrators to inspect historical incidents easily.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presents our automated notification system implemented in src/email_alert.py. When an incident is detected, an alert must reach responsible stakeholders immediately. We configured Python's smtplib to connect to smtp.gmail.com over port 587 using STARTTLS encryption. For security, we use an isolated Gmail App Password stored securely inside a project-root .env file. The email is constructed using MIME multipart formatting, embedding the incident timestamp, tracking ID, and attaching the captured JPEG evidence. Critically, our code isolates network errors: if the internet drops, local SQLite and screenshot operations are never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illustrates our codebase organization. We adhered to modular, production-ready software engineering standards. The directory is partitioned into alerts/ for screenshots, database/ for our SQLite file, models/ for local weight caching, and src/ for Python source code. Within src/, live_tracking.py orchestrates the vision pipeline and state machine; email_alert.py manages SMTP communication; database_manager.py handles database transactions; and view_alerts.py provides audit log inspection. Environment variables are isolated in .env, preventing hardcoded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presents our live empirical validation. We tested the integrated system under real conditions, and this slide displays our actual console outputs. As seen in the log, when a subject entered the restricted box, the system logged the intrusion, saved the JPEG evidence, wrote to security.db, and dispatched an email with Gmail's 250 OK acknowledgment. Similarly, when a knife was held in front of the camera, the system verified the detection across 3 consecutive frames, generated weapon_knife_...jpg, and delivered the email alert. Subsequent detections within 30 seconds were appropriately suppressed by our cooldown logic, confirming flawless end-to-end operation.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provides an honest, objective engineering evaluation. Every prototype has real-world constraints. Currently, our zone coordinates are defined in pixel values, meaning changing camera resolution requires updating coordinates. Additionally, because SMTP calls run synchronously, a sluggish internet connection can cause a slight stutter in the live video feed. Our roadmap addresses each of these points: First, adding an interactive GUI to draw polygonal zones with a mouse; Second, wrapping email dispatch into an asynchronous background worker thread; and Third, scaling from a single webcam to multi-camera RTSP streaming connected to a centralized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engineered a robust, end-to-end Intelligent Video Surveillance System that directly addresses the limitations of passive CCTV. By combining modern YOLO models, ByteTrack association, temporal confirmation, SQLite forensic logging, and Gmail alerts, we delivered a working, tested prototype that enhances security response times and accountability. I express my deepest gratitude to GENKEI SOLUTIONS PRIVATE LIMITED, my guides, and mentors for their invaluable support. I am now open to any questions, suggestions, or technical discussions.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914400"/>
            <a:ext cx="411480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INTERNSHIP PROJECT PRESENTATION  |  AI &amp; CV</a:t>
            </a:r>
          </a:p>
        </p:txBody>
      </p:sp>
      <p:sp>
        <p:nvSpPr>
          <p:cNvPr id="5" name="TextBox 4"/>
          <p:cNvSpPr txBox="1"/>
          <p:nvPr/>
        </p:nvSpPr>
        <p:spPr>
          <a:xfrm>
            <a:off x="914400" y="1508760"/>
            <a:ext cx="10332720" cy="1645920"/>
          </a:xfrm>
          <a:prstGeom prst="rect">
            <a:avLst/>
          </a:prstGeom>
          <a:noFill/>
        </p:spPr>
        <p:txBody>
          <a:bodyPr wrap="square">
            <a:spAutoFit/>
          </a:bodyPr>
          <a:lstStyle/>
          <a:p>
            <a:pPr>
              <a:spcAft>
                <a:spcPts val="1200"/>
              </a:spcAft>
              <a:defRPr sz="3600" b="1">
                <a:solidFill>
                  <a:srgbClr val="F8FAFC"/>
                </a:solidFill>
              </a:defRPr>
            </a:pPr>
            <a:r>
              <a:t>Deep Learning-Based Intelligent</a:t>
            </a:r>
            <a:br/>
            <a:r>
              <a:t>Video Surveillance System</a:t>
            </a:r>
          </a:p>
          <a:p>
            <a:pPr>
              <a:defRPr sz="1500">
                <a:solidFill>
                  <a:srgbClr val="38BDF8"/>
                </a:solidFill>
              </a:defRPr>
            </a:pPr>
            <a:r>
              <a:t>Real-Time Multi-Hazard AI Detection  •  Intrusion Tracking  •  Evidence Storage  •  Automated Email Alerts</a:t>
            </a:r>
          </a:p>
        </p:txBody>
      </p:sp>
      <p:sp>
        <p:nvSpPr>
          <p:cNvPr id="6" name="Rounded Rectangle 5"/>
          <p:cNvSpPr/>
          <p:nvPr/>
        </p:nvSpPr>
        <p:spPr>
          <a:xfrm>
            <a:off x="914400" y="3474720"/>
            <a:ext cx="4937760" cy="2286000"/>
          </a:xfrm>
          <a:prstGeom prst="roundRect">
            <a:avLst/>
          </a:prstGeom>
          <a:solidFill>
            <a:srgbClr val="1E293B"/>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DEVELOPED AT</a:t>
            </a:r>
          </a:p>
          <a:p>
            <a:pPr>
              <a:spcAft>
                <a:spcPts val="600"/>
              </a:spcAft>
              <a:defRPr sz="1600" b="1">
                <a:solidFill>
                  <a:srgbClr val="F8FAFC"/>
                </a:solidFill>
              </a:defRPr>
            </a:pPr>
            <a:r>
              <a:t>GENKEI SOLUTIONS PRIVATE LIMITED</a:t>
            </a:r>
          </a:p>
          <a:p>
            <a:pPr>
              <a:spcBef>
                <a:spcPts val="400"/>
              </a:spcBef>
              <a:defRPr sz="1200">
                <a:solidFill>
                  <a:srgbClr val="94A3B8"/>
                </a:solidFill>
              </a:defRPr>
            </a:pPr>
            <a:r>
              <a:t>Domain: Artificial Intelligence &amp; Computer Vision</a:t>
            </a:r>
            <a:br/>
            <a:r>
              <a:t>Platform: Python 3.11  •  PyCharm  •  Windows 11</a:t>
            </a:r>
            <a:br/>
            <a:r>
              <a:t>Status: Fully Integrated Working Prototype</a:t>
            </a:r>
          </a:p>
        </p:txBody>
      </p:sp>
      <p:sp>
        <p:nvSpPr>
          <p:cNvPr id="7" name="Rounded Rectangle 6"/>
          <p:cNvSpPr/>
          <p:nvPr/>
        </p:nvSpPr>
        <p:spPr>
          <a:xfrm>
            <a:off x="6217920" y="3474720"/>
            <a:ext cx="502920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PROJECT METADATA</a:t>
            </a:r>
          </a:p>
          <a:p>
            <a:pPr>
              <a:defRPr sz="1400" b="1">
                <a:solidFill>
                  <a:srgbClr val="F8FAFC"/>
                </a:solidFill>
              </a:defRPr>
            </a:pPr>
            <a:r>
              <a:t>Candidate Name: Anand</a:t>
            </a:r>
          </a:p>
          <a:p>
            <a:pPr>
              <a:defRPr sz="1200">
                <a:solidFill>
                  <a:srgbClr val="94A3B8"/>
                </a:solidFill>
              </a:defRPr>
            </a:pPr>
            <a:r>
              <a:t>Role: Machine Learning &amp; Computer Vision Intern</a:t>
            </a:r>
          </a:p>
          <a:p>
            <a:pPr>
              <a:spcBef>
                <a:spcPts val="600"/>
              </a:spcBef>
              <a:defRPr sz="1200">
                <a:solidFill>
                  <a:srgbClr val="94A3B8"/>
                </a:solidFill>
              </a:defRPr>
            </a:pPr>
            <a:r>
              <a:t>Industry Guide: Project Supervisor / Technical Mentor</a:t>
            </a:r>
            <a:br/>
            <a:r>
              <a:t>Organization: GENKEI SOLUTIONS PRIVATE LIMITED</a:t>
            </a:r>
            <a:br/>
            <a:r>
              <a:t>Execution Date: October 2026</a:t>
            </a:r>
          </a:p>
        </p:txBody>
      </p:sp>
      <p:sp>
        <p:nvSpPr>
          <p:cNvPr id="8" name="TextBox 7"/>
          <p:cNvSpPr txBox="1"/>
          <p:nvPr/>
        </p:nvSpPr>
        <p:spPr>
          <a:xfrm>
            <a:off x="914400" y="5943600"/>
            <a:ext cx="10332720" cy="457200"/>
          </a:xfrm>
          <a:prstGeom prst="rect">
            <a:avLst/>
          </a:prstGeom>
          <a:noFill/>
        </p:spPr>
        <p:txBody>
          <a:bodyPr wrap="none">
            <a:spAutoFit/>
          </a:bodyPr>
          <a:lstStyle/>
          <a:p>
            <a:pPr>
              <a:defRPr sz="1100" b="1">
                <a:solidFill>
                  <a:srgbClr val="FBBF24"/>
                </a:solidFill>
              </a:defRPr>
            </a:pPr>
            <a:r>
              <a:t>Core Tech:  OpenCV  |  Ultralytics YOLO11n  |  ByteTrack  |  SQLite  |  Gmail SMTP (TLS 587)  |  Hugging Face Hub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CONTEXT &amp; FOUNDATIONS</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Introduction: The Need for Intelligent Video Surveillance</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Transforming conventional passive CCTV infrastructure into proactive, real-time cognitive surveillance</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3328416"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1. The Surveillance Paradigm Shift</a:t>
            </a:r>
          </a:p>
          <a:p>
            <a:pPr>
              <a:spcAft>
                <a:spcPts val="200"/>
              </a:spcAft>
              <a:defRPr sz="1200" b="1">
                <a:solidFill>
                  <a:srgbClr val="F8FAFC"/>
                </a:solidFill>
              </a:defRPr>
            </a:pPr>
            <a:r>
              <a:t>Passive to Proactive:</a:t>
            </a:r>
          </a:p>
          <a:p>
            <a:pPr>
              <a:spcAft>
                <a:spcPts val="800"/>
              </a:spcAft>
              <a:defRPr sz="1100" b="0">
                <a:solidFill>
                  <a:srgbClr val="94A3B8"/>
                </a:solidFill>
              </a:defRPr>
            </a:pPr>
            <a:r>
              <a:t>Traditional CCTV systems are passive recorders—they capture footage for forensic review only after damage has occurred.</a:t>
            </a:r>
          </a:p>
          <a:p>
            <a:pPr>
              <a:spcAft>
                <a:spcPts val="200"/>
              </a:spcAft>
              <a:defRPr sz="1200" b="1">
                <a:solidFill>
                  <a:srgbClr val="F8FAFC"/>
                </a:solidFill>
              </a:defRPr>
            </a:pPr>
            <a:r>
              <a:t>Cognitive Edge Analytics:</a:t>
            </a:r>
          </a:p>
          <a:p>
            <a:pPr>
              <a:spcAft>
                <a:spcPts val="800"/>
              </a:spcAft>
              <a:defRPr sz="1100" b="0">
                <a:solidFill>
                  <a:srgbClr val="94A3B8"/>
                </a:solidFill>
              </a:defRPr>
            </a:pPr>
            <a:r>
              <a:t>Intelligent surveillance introduces computer vision models at the edge to detect security hazards in real time.</a:t>
            </a:r>
          </a:p>
          <a:p>
            <a:pPr>
              <a:spcAft>
                <a:spcPts val="200"/>
              </a:spcAft>
              <a:defRPr sz="1200" b="1">
                <a:solidFill>
                  <a:srgbClr val="F8FAFC"/>
                </a:solidFill>
              </a:defRPr>
            </a:pPr>
            <a:r>
              <a:t>Continuous Vigilance:</a:t>
            </a:r>
          </a:p>
          <a:p>
            <a:pPr>
              <a:spcAft>
                <a:spcPts val="800"/>
              </a:spcAft>
              <a:defRPr sz="1100" b="0">
                <a:solidFill>
                  <a:srgbClr val="94A3B8"/>
                </a:solidFill>
              </a:defRPr>
            </a:pPr>
            <a:r>
              <a:t>AI monitors 24/7 without fatigue, distraction, or visual cognitive saturation.</a:t>
            </a:r>
          </a:p>
        </p:txBody>
      </p:sp>
      <p:sp>
        <p:nvSpPr>
          <p:cNvPr id="9" name="Rounded Rectangle 8"/>
          <p:cNvSpPr/>
          <p:nvPr/>
        </p:nvSpPr>
        <p:spPr>
          <a:xfrm>
            <a:off x="4425696" y="1737360"/>
            <a:ext cx="3328416"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2. Deep Learning at the Core</a:t>
            </a:r>
          </a:p>
          <a:p>
            <a:pPr>
              <a:spcAft>
                <a:spcPts val="200"/>
              </a:spcAft>
              <a:defRPr sz="1200" b="1">
                <a:solidFill>
                  <a:srgbClr val="F8FAFC"/>
                </a:solidFill>
              </a:defRPr>
            </a:pPr>
            <a:r>
              <a:t>Convolution &amp; Attention:</a:t>
            </a:r>
          </a:p>
          <a:p>
            <a:pPr>
              <a:spcAft>
                <a:spcPts val="800"/>
              </a:spcAft>
              <a:defRPr sz="1100" b="0">
                <a:solidFill>
                  <a:srgbClr val="94A3B8"/>
                </a:solidFill>
              </a:defRPr>
            </a:pPr>
            <a:r>
              <a:t>State-of-the-art YOLO architectures identify object features robustly against varying lighting and angles.</a:t>
            </a:r>
          </a:p>
          <a:p>
            <a:pPr>
              <a:spcAft>
                <a:spcPts val="200"/>
              </a:spcAft>
              <a:defRPr sz="1200" b="1">
                <a:solidFill>
                  <a:srgbClr val="F8FAFC"/>
                </a:solidFill>
              </a:defRPr>
            </a:pPr>
            <a:r>
              <a:t>Multi-Class Threat Coverage:</a:t>
            </a:r>
          </a:p>
          <a:p>
            <a:pPr>
              <a:spcAft>
                <a:spcPts val="800"/>
              </a:spcAft>
              <a:defRPr sz="1100" b="0">
                <a:solidFill>
                  <a:srgbClr val="94A3B8"/>
                </a:solidFill>
              </a:defRPr>
            </a:pPr>
            <a:r>
              <a:t>Simultaneous inference for human intrusion, industrial fire &amp; smoke, and armed weapons (guns/knives).</a:t>
            </a:r>
          </a:p>
          <a:p>
            <a:pPr>
              <a:spcAft>
                <a:spcPts val="200"/>
              </a:spcAft>
              <a:defRPr sz="1200" b="1">
                <a:solidFill>
                  <a:srgbClr val="F8FAFC"/>
                </a:solidFill>
              </a:defRPr>
            </a:pPr>
            <a:r>
              <a:t>Persistent Tracking:</a:t>
            </a:r>
          </a:p>
          <a:p>
            <a:pPr>
              <a:spcAft>
                <a:spcPts val="800"/>
              </a:spcAft>
              <a:defRPr sz="1100" b="0">
                <a:solidFill>
                  <a:srgbClr val="94A3B8"/>
                </a:solidFill>
              </a:defRPr>
            </a:pPr>
            <a:r>
              <a:t>Coupling object detection with ByteTrack assigns temporal identities to people moving across frames.</a:t>
            </a:r>
          </a:p>
        </p:txBody>
      </p:sp>
      <p:sp>
        <p:nvSpPr>
          <p:cNvPr id="10" name="Rounded Rectangle 9"/>
          <p:cNvSpPr/>
          <p:nvPr/>
        </p:nvSpPr>
        <p:spPr>
          <a:xfrm>
            <a:off x="8119872" y="1737360"/>
            <a:ext cx="3328416"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3. Automated Audit &amp; Response</a:t>
            </a:r>
          </a:p>
          <a:p>
            <a:pPr>
              <a:spcAft>
                <a:spcPts val="200"/>
              </a:spcAft>
              <a:defRPr sz="1200" b="1">
                <a:solidFill>
                  <a:srgbClr val="F8FAFC"/>
                </a:solidFill>
              </a:defRPr>
            </a:pPr>
            <a:r>
              <a:t>Chain of Custody:</a:t>
            </a:r>
          </a:p>
          <a:p>
            <a:pPr>
              <a:spcAft>
                <a:spcPts val="800"/>
              </a:spcAft>
              <a:defRPr sz="1100" b="0">
                <a:solidFill>
                  <a:srgbClr val="94A3B8"/>
                </a:solidFill>
              </a:defRPr>
            </a:pPr>
            <a:r>
              <a:t>Security events require tamper-proof digital evidence: exact timestamp, class, and annotated frame capture.</a:t>
            </a:r>
          </a:p>
          <a:p>
            <a:pPr>
              <a:spcAft>
                <a:spcPts val="200"/>
              </a:spcAft>
              <a:defRPr sz="1200" b="1">
                <a:solidFill>
                  <a:srgbClr val="F8FAFC"/>
                </a:solidFill>
              </a:defRPr>
            </a:pPr>
            <a:r>
              <a:t>Structured SQLite Storage:</a:t>
            </a:r>
          </a:p>
          <a:p>
            <a:pPr>
              <a:spcAft>
                <a:spcPts val="800"/>
              </a:spcAft>
              <a:defRPr sz="1100" b="0">
                <a:solidFill>
                  <a:srgbClr val="94A3B8"/>
                </a:solidFill>
              </a:defRPr>
            </a:pPr>
            <a:r>
              <a:t>Zero-configuration relational logging enables immediate forensic queries and review.</a:t>
            </a:r>
          </a:p>
          <a:p>
            <a:pPr>
              <a:spcAft>
                <a:spcPts val="200"/>
              </a:spcAft>
              <a:defRPr sz="1200" b="1">
                <a:solidFill>
                  <a:srgbClr val="F8FAFC"/>
                </a:solidFill>
              </a:defRPr>
            </a:pPr>
            <a:r>
              <a:t>Instant Remote Dispatch:</a:t>
            </a:r>
          </a:p>
          <a:p>
            <a:pPr>
              <a:spcAft>
                <a:spcPts val="800"/>
              </a:spcAft>
              <a:defRPr sz="1100" b="0">
                <a:solidFill>
                  <a:srgbClr val="94A3B8"/>
                </a:solidFill>
              </a:defRPr>
            </a:pPr>
            <a:r>
              <a:t>Automated SMTP notifications deliver visual evidence to stakeholders within seconds of threat confirmation.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INDUSTRY PAIN POINTS</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Problem Statement: Critical Flaws in Conventional Surveillance</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Manual monitoring and standard CCTV setups fail in accuracy, responsiveness, and accountability</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12064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1. Human Operator Fatigue &amp; Inattention</a:t>
            </a:r>
          </a:p>
          <a:p>
            <a:pPr>
              <a:spcAft>
                <a:spcPts val="300"/>
              </a:spcAft>
              <a:defRPr sz="1100">
                <a:solidFill>
                  <a:srgbClr val="F8FAFC"/>
                </a:solidFill>
              </a:defRPr>
            </a:pPr>
            <a:r>
              <a:t>• Human vigilance rapidly declines during prolonged monitoring shifts.</a:t>
            </a:r>
          </a:p>
          <a:p>
            <a:pPr>
              <a:spcAft>
                <a:spcPts val="300"/>
              </a:spcAft>
              <a:defRPr sz="1100">
                <a:solidFill>
                  <a:srgbClr val="F8FAFC"/>
                </a:solidFill>
              </a:defRPr>
            </a:pPr>
            <a:r>
              <a:t>• High volume of split-screen feeds overwhelms security personnel.</a:t>
            </a:r>
          </a:p>
          <a:p>
            <a:pPr>
              <a:spcAft>
                <a:spcPts val="300"/>
              </a:spcAft>
              <a:defRPr sz="1100">
                <a:solidFill>
                  <a:srgbClr val="F8FAFC"/>
                </a:solidFill>
              </a:defRPr>
            </a:pPr>
            <a:r>
              <a:t>• Critical perimeter intrusions or concealed weapons go undetected in real time.</a:t>
            </a:r>
          </a:p>
        </p:txBody>
      </p:sp>
      <p:sp>
        <p:nvSpPr>
          <p:cNvPr id="9" name="Rounded Rectangle 8"/>
          <p:cNvSpPr/>
          <p:nvPr/>
        </p:nvSpPr>
        <p:spPr>
          <a:xfrm>
            <a:off x="6217920" y="1737360"/>
            <a:ext cx="521208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2. High Reaction Latency &amp; Escalation</a:t>
            </a:r>
          </a:p>
          <a:p>
            <a:pPr>
              <a:spcAft>
                <a:spcPts val="300"/>
              </a:spcAft>
              <a:defRPr sz="1100">
                <a:solidFill>
                  <a:srgbClr val="F8FAFC"/>
                </a:solidFill>
              </a:defRPr>
            </a:pPr>
            <a:r>
              <a:t>• Conventional cameras passively record crimes and fire outbreaks as they happen.</a:t>
            </a:r>
          </a:p>
          <a:p>
            <a:pPr>
              <a:spcAft>
                <a:spcPts val="300"/>
              </a:spcAft>
              <a:defRPr sz="1100">
                <a:solidFill>
                  <a:srgbClr val="F8FAFC"/>
                </a:solidFill>
              </a:defRPr>
            </a:pPr>
            <a:r>
              <a:t>• Emergency response teams are notified only after physical damage or panic occurs.</a:t>
            </a:r>
          </a:p>
          <a:p>
            <a:pPr>
              <a:spcAft>
                <a:spcPts val="300"/>
              </a:spcAft>
              <a:defRPr sz="1100">
                <a:solidFill>
                  <a:srgbClr val="F8FAFC"/>
                </a:solidFill>
              </a:defRPr>
            </a:pPr>
            <a:r>
              <a:t>• Lack of automated pre-emptive alerting causes severe loss of life and property.</a:t>
            </a:r>
          </a:p>
        </p:txBody>
      </p:sp>
      <p:sp>
        <p:nvSpPr>
          <p:cNvPr id="10" name="Rounded Rectangle 9"/>
          <p:cNvSpPr/>
          <p:nvPr/>
        </p:nvSpPr>
        <p:spPr>
          <a:xfrm>
            <a:off x="731520" y="4114800"/>
            <a:ext cx="512064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A5E9"/>
                </a:solidFill>
              </a:defRPr>
            </a:pPr>
            <a:r>
              <a:t>3. Tedious Manual Video Forensics</a:t>
            </a:r>
          </a:p>
          <a:p>
            <a:pPr>
              <a:spcAft>
                <a:spcPts val="300"/>
              </a:spcAft>
              <a:defRPr sz="1100">
                <a:solidFill>
                  <a:srgbClr val="F8FAFC"/>
                </a:solidFill>
              </a:defRPr>
            </a:pPr>
            <a:r>
              <a:t>• Investigating an incident requires manual scrubbing across hundreds of hours of raw video.</a:t>
            </a:r>
          </a:p>
          <a:p>
            <a:pPr>
              <a:spcAft>
                <a:spcPts val="300"/>
              </a:spcAft>
              <a:defRPr sz="1100">
                <a:solidFill>
                  <a:srgbClr val="F8FAFC"/>
                </a:solidFill>
              </a:defRPr>
            </a:pPr>
            <a:r>
              <a:t>• No structured database linking exact timestamps to specific classified event types.</a:t>
            </a:r>
          </a:p>
          <a:p>
            <a:pPr>
              <a:spcAft>
                <a:spcPts val="300"/>
              </a:spcAft>
              <a:defRPr sz="1100">
                <a:solidFill>
                  <a:srgbClr val="F8FAFC"/>
                </a:solidFill>
              </a:defRPr>
            </a:pPr>
            <a:r>
              <a:t>• Difficult to verify tracking identities or determine exact timestamps of entry.</a:t>
            </a:r>
          </a:p>
        </p:txBody>
      </p:sp>
      <p:sp>
        <p:nvSpPr>
          <p:cNvPr id="11" name="Rounded Rectangle 10"/>
          <p:cNvSpPr/>
          <p:nvPr/>
        </p:nvSpPr>
        <p:spPr>
          <a:xfrm>
            <a:off x="6217920" y="4114800"/>
            <a:ext cx="521208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4. Disconnected Remote Stakeholders</a:t>
            </a:r>
          </a:p>
          <a:p>
            <a:pPr>
              <a:spcAft>
                <a:spcPts val="300"/>
              </a:spcAft>
              <a:defRPr sz="1100">
                <a:solidFill>
                  <a:srgbClr val="F8FAFC"/>
                </a:solidFill>
              </a:defRPr>
            </a:pPr>
            <a:r>
              <a:t>• Facility managers and property owners are unaware of incidents when away from the control desk.</a:t>
            </a:r>
          </a:p>
          <a:p>
            <a:pPr>
              <a:spcAft>
                <a:spcPts val="300"/>
              </a:spcAft>
              <a:defRPr sz="1100">
                <a:solidFill>
                  <a:srgbClr val="F8FAFC"/>
                </a:solidFill>
              </a:defRPr>
            </a:pPr>
            <a:r>
              <a:t>• Absence of automated push notifications with visual snapshot evidence.</a:t>
            </a:r>
          </a:p>
          <a:p>
            <a:pPr>
              <a:spcAft>
                <a:spcPts val="300"/>
              </a:spcAft>
              <a:defRPr sz="1100">
                <a:solidFill>
                  <a:srgbClr val="F8FAFC"/>
                </a:solidFill>
              </a:defRPr>
            </a:pPr>
            <a:r>
              <a:t>• Delay in sharing evidentiary records with law enforcement or fire departments.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PROJECT GOALS &amp; SCOPE</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Project Objectives: Targeted Technical Deliverables</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Six core functional pillars defining the scope of the Intelligent Video Surveillance System</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3328416"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1. Real-Time Tracking</a:t>
            </a:r>
          </a:p>
          <a:p>
            <a:pPr>
              <a:spcAft>
                <a:spcPts val="200"/>
              </a:spcAft>
              <a:defRPr sz="1050">
                <a:solidFill>
                  <a:srgbClr val="94A3B8"/>
                </a:solidFill>
              </a:defRPr>
            </a:pPr>
            <a:r>
              <a:t>• Deploy Ultralytics YOLO11n on live camera stream.</a:t>
            </a:r>
          </a:p>
          <a:p>
            <a:pPr>
              <a:spcAft>
                <a:spcPts val="200"/>
              </a:spcAft>
              <a:defRPr sz="1050">
                <a:solidFill>
                  <a:srgbClr val="94A3B8"/>
                </a:solidFill>
              </a:defRPr>
            </a:pPr>
            <a:r>
              <a:t>• Integrate ByteTrack algorithm for persistent track IDs.</a:t>
            </a:r>
          </a:p>
          <a:p>
            <a:pPr>
              <a:spcAft>
                <a:spcPts val="200"/>
              </a:spcAft>
              <a:defRPr sz="1050">
                <a:solidFill>
                  <a:srgbClr val="94A3B8"/>
                </a:solidFill>
              </a:defRPr>
            </a:pPr>
            <a:r>
              <a:t>• Track multiple individuals across successive frames.</a:t>
            </a:r>
          </a:p>
        </p:txBody>
      </p:sp>
      <p:sp>
        <p:nvSpPr>
          <p:cNvPr id="9" name="Rounded Rectangle 8"/>
          <p:cNvSpPr/>
          <p:nvPr/>
        </p:nvSpPr>
        <p:spPr>
          <a:xfrm>
            <a:off x="4425696" y="1737360"/>
            <a:ext cx="3328416"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2. Restricted Zone Intrusion</a:t>
            </a:r>
          </a:p>
          <a:p>
            <a:pPr>
              <a:spcAft>
                <a:spcPts val="200"/>
              </a:spcAft>
              <a:defRPr sz="1050">
                <a:solidFill>
                  <a:srgbClr val="94A3B8"/>
                </a:solidFill>
              </a:defRPr>
            </a:pPr>
            <a:r>
              <a:t>• Define virtual perimeter coordinates on camera view.</a:t>
            </a:r>
          </a:p>
          <a:p>
            <a:pPr>
              <a:spcAft>
                <a:spcPts val="200"/>
              </a:spcAft>
              <a:defRPr sz="1050">
                <a:solidFill>
                  <a:srgbClr val="94A3B8"/>
                </a:solidFill>
              </a:defRPr>
            </a:pPr>
            <a:r>
              <a:t>• Compute bounding box centroid (cx, cy) per person.</a:t>
            </a:r>
          </a:p>
          <a:p>
            <a:pPr>
              <a:spcAft>
                <a:spcPts val="200"/>
              </a:spcAft>
              <a:defRPr sz="1050">
                <a:solidFill>
                  <a:srgbClr val="94A3B8"/>
                </a:solidFill>
              </a:defRPr>
            </a:pPr>
            <a:r>
              <a:t>• Trigger immediate breach alert upon entry.</a:t>
            </a:r>
          </a:p>
        </p:txBody>
      </p:sp>
      <p:sp>
        <p:nvSpPr>
          <p:cNvPr id="10" name="Rounded Rectangle 9"/>
          <p:cNvSpPr/>
          <p:nvPr/>
        </p:nvSpPr>
        <p:spPr>
          <a:xfrm>
            <a:off x="8119872" y="1737360"/>
            <a:ext cx="3328416"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3. Fire &amp; Smoke Detection</a:t>
            </a:r>
          </a:p>
          <a:p>
            <a:pPr>
              <a:spcAft>
                <a:spcPts val="200"/>
              </a:spcAft>
              <a:defRPr sz="1050">
                <a:solidFill>
                  <a:srgbClr val="94A3B8"/>
                </a:solidFill>
              </a:defRPr>
            </a:pPr>
            <a:r>
              <a:t>• Integrate specialized dual-hazard YOLOv8n model.</a:t>
            </a:r>
          </a:p>
          <a:p>
            <a:pPr>
              <a:spcAft>
                <a:spcPts val="200"/>
              </a:spcAft>
              <a:defRPr sz="1050">
                <a:solidFill>
                  <a:srgbClr val="94A3B8"/>
                </a:solidFill>
              </a:defRPr>
            </a:pPr>
            <a:r>
              <a:t>• Detect active flame and smoke clouds concurrently.</a:t>
            </a:r>
          </a:p>
          <a:p>
            <a:pPr>
              <a:spcAft>
                <a:spcPts val="200"/>
              </a:spcAft>
              <a:defRPr sz="1050">
                <a:solidFill>
                  <a:srgbClr val="94A3B8"/>
                </a:solidFill>
              </a:defRPr>
            </a:pPr>
            <a:r>
              <a:t>• Maintain independent event tracking and thresholds.</a:t>
            </a:r>
          </a:p>
        </p:txBody>
      </p:sp>
      <p:sp>
        <p:nvSpPr>
          <p:cNvPr id="11" name="Rounded Rectangle 10"/>
          <p:cNvSpPr/>
          <p:nvPr/>
        </p:nvSpPr>
        <p:spPr>
          <a:xfrm>
            <a:off x="731520" y="4114800"/>
            <a:ext cx="3328416"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4. Weapon Threat Detection</a:t>
            </a:r>
          </a:p>
          <a:p>
            <a:pPr>
              <a:spcAft>
                <a:spcPts val="200"/>
              </a:spcAft>
              <a:defRPr sz="1050">
                <a:solidFill>
                  <a:srgbClr val="94A3B8"/>
                </a:solidFill>
              </a:defRPr>
            </a:pPr>
            <a:r>
              <a:t>• Load dedicated gun and knife detection model weights.</a:t>
            </a:r>
          </a:p>
          <a:p>
            <a:pPr>
              <a:spcAft>
                <a:spcPts val="200"/>
              </a:spcAft>
              <a:defRPr sz="1050">
                <a:solidFill>
                  <a:srgbClr val="94A3B8"/>
                </a:solidFill>
              </a:defRPr>
            </a:pPr>
            <a:r>
              <a:t>• Map bounding boxes for handgun and edged weapon classes.</a:t>
            </a:r>
          </a:p>
          <a:p>
            <a:pPr>
              <a:spcAft>
                <a:spcPts val="200"/>
              </a:spcAft>
              <a:defRPr sz="1050">
                <a:solidFill>
                  <a:srgbClr val="94A3B8"/>
                </a:solidFill>
              </a:defRPr>
            </a:pPr>
            <a:r>
              <a:t>• Isolate armed threats with high visual priority.</a:t>
            </a:r>
          </a:p>
        </p:txBody>
      </p:sp>
      <p:sp>
        <p:nvSpPr>
          <p:cNvPr id="12" name="Rounded Rectangle 11"/>
          <p:cNvSpPr/>
          <p:nvPr/>
        </p:nvSpPr>
        <p:spPr>
          <a:xfrm>
            <a:off x="4425696" y="4114800"/>
            <a:ext cx="3328416"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A5E9"/>
                </a:solidFill>
              </a:defRPr>
            </a:pPr>
            <a:r>
              <a:t>5. Event State &amp; Cooldown</a:t>
            </a:r>
          </a:p>
          <a:p>
            <a:pPr>
              <a:spcAft>
                <a:spcPts val="200"/>
              </a:spcAft>
              <a:defRPr sz="1050">
                <a:solidFill>
                  <a:srgbClr val="94A3B8"/>
                </a:solidFill>
              </a:defRPr>
            </a:pPr>
            <a:r>
              <a:t>• Implement 3-frame confirmation to prevent false flickers.</a:t>
            </a:r>
          </a:p>
          <a:p>
            <a:pPr>
              <a:spcAft>
                <a:spcPts val="200"/>
              </a:spcAft>
              <a:defRPr sz="1050">
                <a:solidFill>
                  <a:srgbClr val="94A3B8"/>
                </a:solidFill>
              </a:defRPr>
            </a:pPr>
            <a:r>
              <a:t>• Apply 10-frame clearing threshold on hazard absence.</a:t>
            </a:r>
          </a:p>
          <a:p>
            <a:pPr>
              <a:spcAft>
                <a:spcPts val="200"/>
              </a:spcAft>
              <a:defRPr sz="1050">
                <a:solidFill>
                  <a:srgbClr val="94A3B8"/>
                </a:solidFill>
              </a:defRPr>
            </a:pPr>
            <a:r>
              <a:t>• Enforce 30-second cooldown per event category.</a:t>
            </a:r>
          </a:p>
        </p:txBody>
      </p:sp>
      <p:sp>
        <p:nvSpPr>
          <p:cNvPr id="13" name="Rounded Rectangle 12"/>
          <p:cNvSpPr/>
          <p:nvPr/>
        </p:nvSpPr>
        <p:spPr>
          <a:xfrm>
            <a:off x="8119872" y="4114800"/>
            <a:ext cx="3328416"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6. Evidence &amp; Email Alert</a:t>
            </a:r>
          </a:p>
          <a:p>
            <a:pPr>
              <a:spcAft>
                <a:spcPts val="200"/>
              </a:spcAft>
              <a:defRPr sz="1050">
                <a:solidFill>
                  <a:srgbClr val="94A3B8"/>
                </a:solidFill>
              </a:defRPr>
            </a:pPr>
            <a:r>
              <a:t>• Capture timestamped JPEG screenshots of violations.</a:t>
            </a:r>
          </a:p>
          <a:p>
            <a:pPr>
              <a:spcAft>
                <a:spcPts val="200"/>
              </a:spcAft>
              <a:defRPr sz="1050">
                <a:solidFill>
                  <a:srgbClr val="94A3B8"/>
                </a:solidFill>
              </a:defRPr>
            </a:pPr>
            <a:r>
              <a:t>• Persist structured logs into SQLite database.</a:t>
            </a:r>
          </a:p>
          <a:p>
            <a:pPr>
              <a:spcAft>
                <a:spcPts val="200"/>
              </a:spcAft>
              <a:defRPr sz="1050">
                <a:solidFill>
                  <a:srgbClr val="94A3B8"/>
                </a:solidFill>
              </a:defRPr>
            </a:pPr>
            <a:r>
              <a:t>• Dispatch instant Gmail SMTP alerts with attached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SYSTEM OVERVIEW</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Proposed Solution: Edge-Based Multi-Threat Intelligence</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An integrated, multi-model computer vision pipeline executing real-time detection, tracking, and notification</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621792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Core Architectural Innovations</a:t>
            </a:r>
          </a:p>
          <a:p>
            <a:pPr>
              <a:spcAft>
                <a:spcPts val="200"/>
              </a:spcAft>
              <a:defRPr sz="1150" b="1">
                <a:solidFill>
                  <a:srgbClr val="F8FAFC"/>
                </a:solidFill>
              </a:defRPr>
            </a:pPr>
            <a:r>
              <a:t>Unified Multi-Model Vision Pipeline:</a:t>
            </a:r>
          </a:p>
          <a:p>
            <a:pPr>
              <a:spcAft>
                <a:spcPts val="600"/>
              </a:spcAft>
              <a:defRPr sz="1100" b="0">
                <a:solidFill>
                  <a:srgbClr val="94A3B8"/>
                </a:solidFill>
              </a:defRPr>
            </a:pPr>
            <a:r>
              <a:t>Instead of relying on a single generic model, our architecture dynamically orchestrates three specialized neural networks (YOLO11n for people, YOLOv8n for fire/smoke, and YOLO11n for weapons) over a single camera stream.</a:t>
            </a:r>
          </a:p>
          <a:p>
            <a:pPr>
              <a:spcAft>
                <a:spcPts val="200"/>
              </a:spcAft>
              <a:defRPr sz="1150" b="1">
                <a:solidFill>
                  <a:srgbClr val="F8FAFC"/>
                </a:solidFill>
              </a:defRPr>
            </a:pPr>
            <a:r>
              <a:t>Geometric Spatial Analytics:</a:t>
            </a:r>
          </a:p>
          <a:p>
            <a:pPr>
              <a:spcAft>
                <a:spcPts val="600"/>
              </a:spcAft>
              <a:defRPr sz="1100" b="0">
                <a:solidFill>
                  <a:srgbClr val="94A3B8"/>
                </a:solidFill>
              </a:defRPr>
            </a:pPr>
            <a:r>
              <a:t>Computes bounding-box centroids against calibrated pixel boundary coordinates, delivering instant perimeter breach verification without expensive sensor hardware.</a:t>
            </a:r>
          </a:p>
          <a:p>
            <a:pPr>
              <a:spcAft>
                <a:spcPts val="200"/>
              </a:spcAft>
              <a:defRPr sz="1150" b="1">
                <a:solidFill>
                  <a:srgbClr val="F8FAFC"/>
                </a:solidFill>
              </a:defRPr>
            </a:pPr>
            <a:r>
              <a:t>State-Aware Confirmation &amp; Anti-Flicker Logic:</a:t>
            </a:r>
          </a:p>
          <a:p>
            <a:pPr>
              <a:spcAft>
                <a:spcPts val="600"/>
              </a:spcAft>
              <a:defRPr sz="1100" b="0">
                <a:solidFill>
                  <a:srgbClr val="94A3B8"/>
                </a:solidFill>
              </a:defRPr>
            </a:pPr>
            <a:r>
              <a:t>Employs consecutive-frame verification (3 frames) and memory-based grace periods (15 frames) to suppress transient false alarms while maintaining sub-second reaction times.</a:t>
            </a:r>
          </a:p>
          <a:p>
            <a:pPr>
              <a:spcAft>
                <a:spcPts val="200"/>
              </a:spcAft>
              <a:defRPr sz="1150" b="1">
                <a:solidFill>
                  <a:srgbClr val="F8FAFC"/>
                </a:solidFill>
              </a:defRPr>
            </a:pPr>
            <a:r>
              <a:t>Zero-Dependency Local Storage with Cloud Push:</a:t>
            </a:r>
          </a:p>
          <a:p>
            <a:pPr>
              <a:spcAft>
                <a:spcPts val="600"/>
              </a:spcAft>
              <a:defRPr sz="1100" b="0">
                <a:solidFill>
                  <a:srgbClr val="94A3B8"/>
                </a:solidFill>
              </a:defRPr>
            </a:pPr>
            <a:r>
              <a:t>Stores audit logs and evidence locally in SQLite and JPEG formats for air-gapped security, while leveraging Gmail SMTP TLS to dispatch notifications to remote stakeholders.</a:t>
            </a:r>
          </a:p>
        </p:txBody>
      </p:sp>
      <p:sp>
        <p:nvSpPr>
          <p:cNvPr id="9" name="Rounded Rectangle 8"/>
          <p:cNvSpPr/>
          <p:nvPr/>
        </p:nvSpPr>
        <p:spPr>
          <a:xfrm>
            <a:off x="7223760" y="1737360"/>
            <a:ext cx="420624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Traditional CCTV vs. Proposed System</a:t>
            </a:r>
          </a:p>
          <a:p>
            <a:pPr>
              <a:spcAft>
                <a:spcPts val="100"/>
              </a:spcAft>
              <a:defRPr sz="1050" b="1">
                <a:solidFill>
                  <a:srgbClr val="38BDF8"/>
                </a:solidFill>
              </a:defRPr>
            </a:pPr>
            <a:r>
              <a:t>Human Vigilance:</a:t>
            </a:r>
          </a:p>
          <a:p>
            <a:pPr>
              <a:spcAft>
                <a:spcPts val="400"/>
              </a:spcAft>
              <a:defRPr sz="950">
                <a:solidFill>
                  <a:srgbClr val="94A3B8"/>
                </a:solidFill>
              </a:defRPr>
            </a:pPr>
            <a:r>
              <a:t>❌ Human operator fatigue; high error rate</a:t>
            </a:r>
            <a:br/>
            <a:r>
              <a:t>✔ 24/7 autonomous neural inference</a:t>
            </a:r>
          </a:p>
          <a:p>
            <a:pPr>
              <a:spcAft>
                <a:spcPts val="100"/>
              </a:spcAft>
              <a:defRPr sz="1050" b="1">
                <a:solidFill>
                  <a:srgbClr val="38BDF8"/>
                </a:solidFill>
              </a:defRPr>
            </a:pPr>
            <a:r>
              <a:t>Hazard Detection:</a:t>
            </a:r>
          </a:p>
          <a:p>
            <a:pPr>
              <a:spcAft>
                <a:spcPts val="400"/>
              </a:spcAft>
              <a:defRPr sz="950">
                <a:solidFill>
                  <a:srgbClr val="94A3B8"/>
                </a:solidFill>
              </a:defRPr>
            </a:pPr>
            <a:r>
              <a:t>❌ Manual spotting only</a:t>
            </a:r>
            <a:br/>
            <a:r>
              <a:t>✔ Multi-model AI (Fire, Smoke, Gun, Knife)</a:t>
            </a:r>
          </a:p>
          <a:p>
            <a:pPr>
              <a:spcAft>
                <a:spcPts val="100"/>
              </a:spcAft>
              <a:defRPr sz="1050" b="1">
                <a:solidFill>
                  <a:srgbClr val="38BDF8"/>
                </a:solidFill>
              </a:defRPr>
            </a:pPr>
            <a:r>
              <a:t>Zone Security:</a:t>
            </a:r>
          </a:p>
          <a:p>
            <a:pPr>
              <a:spcAft>
                <a:spcPts val="400"/>
              </a:spcAft>
              <a:defRPr sz="950">
                <a:solidFill>
                  <a:srgbClr val="94A3B8"/>
                </a:solidFill>
              </a:defRPr>
            </a:pPr>
            <a:r>
              <a:t>❌ Unchecked boundaries</a:t>
            </a:r>
            <a:br/>
            <a:r>
              <a:t>✔ Automated coordinate-based intrusion logic</a:t>
            </a:r>
          </a:p>
          <a:p>
            <a:pPr>
              <a:spcAft>
                <a:spcPts val="100"/>
              </a:spcAft>
              <a:defRPr sz="1050" b="1">
                <a:solidFill>
                  <a:srgbClr val="38BDF8"/>
                </a:solidFill>
              </a:defRPr>
            </a:pPr>
            <a:r>
              <a:t>Alert Latency:</a:t>
            </a:r>
          </a:p>
          <a:p>
            <a:pPr>
              <a:spcAft>
                <a:spcPts val="400"/>
              </a:spcAft>
              <a:defRPr sz="950">
                <a:solidFill>
                  <a:srgbClr val="94A3B8"/>
                </a:solidFill>
              </a:defRPr>
            </a:pPr>
            <a:r>
              <a:t>❌ Delayed by minutes/hours</a:t>
            </a:r>
            <a:br/>
            <a:r>
              <a:t>✔ Instant (&lt; 2 seconds via Gmail SMTP)</a:t>
            </a:r>
          </a:p>
          <a:p>
            <a:pPr>
              <a:spcAft>
                <a:spcPts val="100"/>
              </a:spcAft>
              <a:defRPr sz="1050" b="1">
                <a:solidFill>
                  <a:srgbClr val="38BDF8"/>
                </a:solidFill>
              </a:defRPr>
            </a:pPr>
            <a:r>
              <a:t>Evidence Trail:</a:t>
            </a:r>
          </a:p>
          <a:p>
            <a:pPr>
              <a:spcAft>
                <a:spcPts val="400"/>
              </a:spcAft>
              <a:defRPr sz="950">
                <a:solidFill>
                  <a:srgbClr val="94A3B8"/>
                </a:solidFill>
              </a:defRPr>
            </a:pPr>
            <a:r>
              <a:t>❌ Terabytes of raw unindexed tape</a:t>
            </a:r>
            <a:br/>
            <a:r>
              <a:t>✔ Timestamped JPEG snapshots + SQLite DB</a:t>
            </a:r>
          </a:p>
          <a:p>
            <a:pPr>
              <a:spcAft>
                <a:spcPts val="100"/>
              </a:spcAft>
              <a:defRPr sz="1050" b="1">
                <a:solidFill>
                  <a:srgbClr val="38BDF8"/>
                </a:solidFill>
              </a:defRPr>
            </a:pPr>
            <a:r>
              <a:t>Infrastructure:</a:t>
            </a:r>
          </a:p>
          <a:p>
            <a:pPr>
              <a:spcAft>
                <a:spcPts val="400"/>
              </a:spcAft>
              <a:defRPr sz="950">
                <a:solidFill>
                  <a:srgbClr val="94A3B8"/>
                </a:solidFill>
              </a:defRPr>
            </a:pPr>
            <a:r>
              <a:t>❌ Costly dedicated NVR/VMS servers</a:t>
            </a:r>
            <a:br/>
            <a:r>
              <a:t>✔ Runs on standard PC with Python 3.11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PIPELINE &amp; FLOW</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System Architecture: End-to-End Processing Workflow</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Five decoupled stages linking video ingestion, deep neural inference, event management, and alerting</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2029968" cy="35661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Stage 1: Video Ingestion</a:t>
            </a:r>
          </a:p>
          <a:p>
            <a:pPr>
              <a:spcAft>
                <a:spcPts val="300"/>
              </a:spcAft>
              <a:defRPr sz="1000">
                <a:solidFill>
                  <a:srgbClr val="94A3B8"/>
                </a:solidFill>
              </a:defRPr>
            </a:pPr>
            <a:r>
              <a:t>• OpenCV VideoCapture(0)</a:t>
            </a:r>
          </a:p>
          <a:p>
            <a:pPr>
              <a:spcAft>
                <a:spcPts val="300"/>
              </a:spcAft>
              <a:defRPr sz="1000">
                <a:solidFill>
                  <a:srgbClr val="94A3B8"/>
                </a:solidFill>
              </a:defRPr>
            </a:pPr>
            <a:r>
              <a:t>• Default camera stream</a:t>
            </a:r>
          </a:p>
          <a:p>
            <a:pPr>
              <a:spcAft>
                <a:spcPts val="300"/>
              </a:spcAft>
              <a:defRPr sz="1000">
                <a:solidFill>
                  <a:srgbClr val="94A3B8"/>
                </a:solidFill>
              </a:defRPr>
            </a:pPr>
            <a:r>
              <a:t>• 640x480 frame capture</a:t>
            </a:r>
          </a:p>
          <a:p>
            <a:pPr>
              <a:spcAft>
                <a:spcPts val="300"/>
              </a:spcAft>
              <a:defRPr sz="1000">
                <a:solidFill>
                  <a:srgbClr val="94A3B8"/>
                </a:solidFill>
              </a:defRPr>
            </a:pPr>
            <a:r>
              <a:t>• Frame queue buffering</a:t>
            </a:r>
          </a:p>
          <a:p>
            <a:pPr>
              <a:spcAft>
                <a:spcPts val="300"/>
              </a:spcAft>
              <a:defRPr sz="1000">
                <a:solidFill>
                  <a:srgbClr val="94A3B8"/>
                </a:solidFill>
              </a:defRPr>
            </a:pPr>
            <a:r>
              <a:t>• Resolution normalization</a:t>
            </a:r>
          </a:p>
        </p:txBody>
      </p:sp>
      <p:sp>
        <p:nvSpPr>
          <p:cNvPr id="9" name="Rounded Rectangle 8"/>
          <p:cNvSpPr/>
          <p:nvPr/>
        </p:nvSpPr>
        <p:spPr>
          <a:xfrm>
            <a:off x="2907792" y="1737360"/>
            <a:ext cx="2029968" cy="35661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A5E9"/>
                </a:solidFill>
              </a:defRPr>
            </a:pPr>
            <a:r>
              <a:t>Stage 2: AI Neural Engine</a:t>
            </a:r>
          </a:p>
          <a:p>
            <a:pPr>
              <a:spcAft>
                <a:spcPts val="300"/>
              </a:spcAft>
              <a:defRPr sz="1000">
                <a:solidFill>
                  <a:srgbClr val="94A3B8"/>
                </a:solidFill>
              </a:defRPr>
            </a:pPr>
            <a:r>
              <a:t>• YOLO11n Person Tracker</a:t>
            </a:r>
          </a:p>
          <a:p>
            <a:pPr>
              <a:spcAft>
                <a:spcPts val="300"/>
              </a:spcAft>
              <a:defRPr sz="1000">
                <a:solidFill>
                  <a:srgbClr val="94A3B8"/>
                </a:solidFill>
              </a:defRPr>
            </a:pPr>
            <a:r>
              <a:t>• ByteTrack ID association</a:t>
            </a:r>
          </a:p>
          <a:p>
            <a:pPr>
              <a:spcAft>
                <a:spcPts val="300"/>
              </a:spcAft>
              <a:defRPr sz="1000">
                <a:solidFill>
                  <a:srgbClr val="94A3B8"/>
                </a:solidFill>
              </a:defRPr>
            </a:pPr>
            <a:r>
              <a:t>• Fire &amp; Smoke YOLOv8n</a:t>
            </a:r>
          </a:p>
          <a:p>
            <a:pPr>
              <a:spcAft>
                <a:spcPts val="300"/>
              </a:spcAft>
              <a:defRPr sz="1000">
                <a:solidFill>
                  <a:srgbClr val="94A3B8"/>
                </a:solidFill>
              </a:defRPr>
            </a:pPr>
            <a:r>
              <a:t>• Gun &amp; Knife YOLO11n</a:t>
            </a:r>
          </a:p>
          <a:p>
            <a:pPr>
              <a:spcAft>
                <a:spcPts val="300"/>
              </a:spcAft>
              <a:defRPr sz="1000">
                <a:solidFill>
                  <a:srgbClr val="94A3B8"/>
                </a:solidFill>
              </a:defRPr>
            </a:pPr>
            <a:r>
              <a:t>• Bounding box regression</a:t>
            </a:r>
          </a:p>
        </p:txBody>
      </p:sp>
      <p:sp>
        <p:nvSpPr>
          <p:cNvPr id="10" name="Rounded Rectangle 9"/>
          <p:cNvSpPr/>
          <p:nvPr/>
        </p:nvSpPr>
        <p:spPr>
          <a:xfrm>
            <a:off x="5084064" y="1737360"/>
            <a:ext cx="2029968" cy="35661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Stage 3: Event Engine</a:t>
            </a:r>
          </a:p>
          <a:p>
            <a:pPr>
              <a:spcAft>
                <a:spcPts val="300"/>
              </a:spcAft>
              <a:defRPr sz="1000">
                <a:solidFill>
                  <a:srgbClr val="94A3B8"/>
                </a:solidFill>
              </a:defRPr>
            </a:pPr>
            <a:r>
              <a:t>• Zone coordinate math</a:t>
            </a:r>
          </a:p>
          <a:p>
            <a:pPr>
              <a:spcAft>
                <a:spcPts val="300"/>
              </a:spcAft>
              <a:defRPr sz="1000">
                <a:solidFill>
                  <a:srgbClr val="94A3B8"/>
                </a:solidFill>
              </a:defRPr>
            </a:pPr>
            <a:r>
              <a:t>• Centroid (cx, cy) test</a:t>
            </a:r>
          </a:p>
          <a:p>
            <a:pPr>
              <a:spcAft>
                <a:spcPts val="300"/>
              </a:spcAft>
              <a:defRPr sz="1000">
                <a:solidFill>
                  <a:srgbClr val="94A3B8"/>
                </a:solidFill>
              </a:defRPr>
            </a:pPr>
            <a:r>
              <a:t>• 3-frame confirmation</a:t>
            </a:r>
          </a:p>
          <a:p>
            <a:pPr>
              <a:spcAft>
                <a:spcPts val="300"/>
              </a:spcAft>
              <a:defRPr sz="1000">
                <a:solidFill>
                  <a:srgbClr val="94A3B8"/>
                </a:solidFill>
              </a:defRPr>
            </a:pPr>
            <a:r>
              <a:t>• 10-frame auto clear</a:t>
            </a:r>
          </a:p>
          <a:p>
            <a:pPr>
              <a:spcAft>
                <a:spcPts val="300"/>
              </a:spcAft>
              <a:defRPr sz="1000">
                <a:solidFill>
                  <a:srgbClr val="94A3B8"/>
                </a:solidFill>
              </a:defRPr>
            </a:pPr>
            <a:r>
              <a:t>• 30s per-event cooldown</a:t>
            </a:r>
          </a:p>
        </p:txBody>
      </p:sp>
      <p:sp>
        <p:nvSpPr>
          <p:cNvPr id="11" name="Rounded Rectangle 10"/>
          <p:cNvSpPr/>
          <p:nvPr/>
        </p:nvSpPr>
        <p:spPr>
          <a:xfrm>
            <a:off x="7260336" y="1737360"/>
            <a:ext cx="2029968" cy="35661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Stage 4: Storage &amp; Audit</a:t>
            </a:r>
          </a:p>
          <a:p>
            <a:pPr>
              <a:spcAft>
                <a:spcPts val="300"/>
              </a:spcAft>
              <a:defRPr sz="1000">
                <a:solidFill>
                  <a:srgbClr val="94A3B8"/>
                </a:solidFill>
              </a:defRPr>
            </a:pPr>
            <a:r>
              <a:t>• OpenCV imwrite JPEG</a:t>
            </a:r>
          </a:p>
          <a:p>
            <a:pPr>
              <a:spcAft>
                <a:spcPts val="300"/>
              </a:spcAft>
              <a:defRPr sz="1000">
                <a:solidFill>
                  <a:srgbClr val="94A3B8"/>
                </a:solidFill>
              </a:defRPr>
            </a:pPr>
            <a:r>
              <a:t>• alerts/ timestamped file</a:t>
            </a:r>
          </a:p>
          <a:p>
            <a:pPr>
              <a:spcAft>
                <a:spcPts val="300"/>
              </a:spcAft>
              <a:defRPr sz="1000">
                <a:solidFill>
                  <a:srgbClr val="94A3B8"/>
                </a:solidFill>
              </a:defRPr>
            </a:pPr>
            <a:r>
              <a:t>• SQLite database write</a:t>
            </a:r>
          </a:p>
          <a:p>
            <a:pPr>
              <a:spcAft>
                <a:spcPts val="300"/>
              </a:spcAft>
              <a:defRPr sz="1000">
                <a:solidFill>
                  <a:srgbClr val="94A3B8"/>
                </a:solidFill>
              </a:defRPr>
            </a:pPr>
            <a:r>
              <a:t>• security.db alert log</a:t>
            </a:r>
          </a:p>
          <a:p>
            <a:pPr>
              <a:spcAft>
                <a:spcPts val="300"/>
              </a:spcAft>
              <a:defRPr sz="1000">
                <a:solidFill>
                  <a:srgbClr val="94A3B8"/>
                </a:solidFill>
              </a:defRPr>
            </a:pPr>
            <a:r>
              <a:t>• Track ID &amp; timestamp</a:t>
            </a:r>
          </a:p>
        </p:txBody>
      </p:sp>
      <p:sp>
        <p:nvSpPr>
          <p:cNvPr id="12" name="Rounded Rectangle 11"/>
          <p:cNvSpPr/>
          <p:nvPr/>
        </p:nvSpPr>
        <p:spPr>
          <a:xfrm>
            <a:off x="9436608" y="1737360"/>
            <a:ext cx="2029968" cy="35661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Stage 5: Remote Alert</a:t>
            </a:r>
          </a:p>
          <a:p>
            <a:pPr>
              <a:spcAft>
                <a:spcPts val="300"/>
              </a:spcAft>
              <a:defRPr sz="1000">
                <a:solidFill>
                  <a:srgbClr val="94A3B8"/>
                </a:solidFill>
              </a:defRPr>
            </a:pPr>
            <a:r>
              <a:t>• src/email_alert.py</a:t>
            </a:r>
          </a:p>
          <a:p>
            <a:pPr>
              <a:spcAft>
                <a:spcPts val="300"/>
              </a:spcAft>
              <a:defRPr sz="1000">
                <a:solidFill>
                  <a:srgbClr val="94A3B8"/>
                </a:solidFill>
              </a:defRPr>
            </a:pPr>
            <a:r>
              <a:t>• Gmail SMTP TLS (587)</a:t>
            </a:r>
          </a:p>
          <a:p>
            <a:pPr>
              <a:spcAft>
                <a:spcPts val="300"/>
              </a:spcAft>
              <a:defRPr sz="1000">
                <a:solidFill>
                  <a:srgbClr val="94A3B8"/>
                </a:solidFill>
              </a:defRPr>
            </a:pPr>
            <a:r>
              <a:t>• App Password auth</a:t>
            </a:r>
          </a:p>
          <a:p>
            <a:pPr>
              <a:spcAft>
                <a:spcPts val="300"/>
              </a:spcAft>
              <a:defRPr sz="1000">
                <a:solidFill>
                  <a:srgbClr val="94A3B8"/>
                </a:solidFill>
              </a:defRPr>
            </a:pPr>
            <a:r>
              <a:t>• MIME attachment</a:t>
            </a:r>
          </a:p>
          <a:p>
            <a:pPr>
              <a:spcAft>
                <a:spcPts val="300"/>
              </a:spcAft>
              <a:defRPr sz="1000">
                <a:solidFill>
                  <a:srgbClr val="94A3B8"/>
                </a:solidFill>
              </a:defRPr>
            </a:pPr>
            <a:r>
              <a:t>• view_alerts.py review</a:t>
            </a:r>
          </a:p>
        </p:txBody>
      </p:sp>
      <p:sp>
        <p:nvSpPr>
          <p:cNvPr id="13" name="Rounded Rectangle 12"/>
          <p:cNvSpPr/>
          <p:nvPr/>
        </p:nvSpPr>
        <p:spPr>
          <a:xfrm>
            <a:off x="731520" y="5486400"/>
            <a:ext cx="10728655" cy="777240"/>
          </a:xfrm>
          <a:prstGeom prst="roundRect">
            <a:avLst/>
          </a:prstGeom>
          <a:solidFill>
            <a:srgbClr val="18212F"/>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100" b="1">
                <a:solidFill>
                  <a:srgbClr val="38BDF8"/>
                </a:solidFill>
              </a:defRPr>
            </a:pPr>
            <a:r>
              <a:t>KEY ARCHITECTURAL HIGHLIGHT: MODULARITY &amp; ISOLATION</a:t>
            </a:r>
          </a:p>
          <a:p>
            <a:pPr>
              <a:defRPr sz="950">
                <a:solidFill>
                  <a:srgbClr val="94A3B8"/>
                </a:solidFill>
              </a:defRPr>
            </a:pPr>
            <a:r>
              <a:t>Each stage operates as an independent logical component. Detection models run without hard dependencies on notification services, and network timeouts during email transmission do not interrupt database logging or local evidence preservation.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TOOLS &amp; LIBRARIES</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Complete Technology Stack &amp; Development Environment</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Modern Python computer vision and deep learning ecosystem configured for Windows 11</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graphicFrame>
        <p:nvGraphicFramePr>
          <p:cNvPr id="8" name="Table 7"/>
          <p:cNvGraphicFramePr>
            <a:graphicFrameLocks noGrp="1"/>
          </p:cNvGraphicFramePr>
          <p:nvPr/>
        </p:nvGraphicFramePr>
        <p:xfrm>
          <a:off x="731520" y="1737360"/>
          <a:ext cx="10728655" cy="4389120"/>
        </p:xfrm>
        <a:graphic>
          <a:graphicData uri="http://schemas.openxmlformats.org/drawingml/2006/table">
            <a:tbl>
              <a:tblPr firstRow="1" bandRow="1">
                <a:tableStyleId>{5C22544A-7EE6-4342-B048-85BDC9FD1C3A}</a:tableStyleId>
              </a:tblPr>
              <a:tblGrid>
                <a:gridCol w="2011680"/>
                <a:gridCol w="2926080"/>
                <a:gridCol w="3200400"/>
                <a:gridCol w="2590495"/>
              </a:tblGrid>
              <a:tr h="627017">
                <a:tc>
                  <a:txBody>
                    <a:bodyPr/>
                    <a:lstStyle/>
                    <a:p>
                      <a:pPr algn="ctr">
                        <a:defRPr sz="1100" b="1">
                          <a:solidFill>
                            <a:srgbClr val="F8FAFC"/>
                          </a:solidFill>
                        </a:defRPr>
                      </a:pPr>
                      <a:r>
                        <a:t>Layer / Module</a:t>
                      </a:r>
                    </a:p>
                  </a:txBody>
                  <a:tcPr>
                    <a:solidFill>
                      <a:srgbClr val="0F4C81"/>
                    </a:solidFill>
                  </a:tcPr>
                </a:tc>
                <a:tc>
                  <a:txBody>
                    <a:bodyPr/>
                    <a:lstStyle/>
                    <a:p>
                      <a:pPr algn="ctr">
                        <a:defRPr sz="1100" b="1">
                          <a:solidFill>
                            <a:srgbClr val="F8FAFC"/>
                          </a:solidFill>
                        </a:defRPr>
                      </a:pPr>
                      <a:r>
                        <a:t>Technology &amp; Version</a:t>
                      </a:r>
                    </a:p>
                  </a:txBody>
                  <a:tcPr>
                    <a:solidFill>
                      <a:srgbClr val="0F4C81"/>
                    </a:solidFill>
                  </a:tcPr>
                </a:tc>
                <a:tc>
                  <a:txBody>
                    <a:bodyPr/>
                    <a:lstStyle/>
                    <a:p>
                      <a:pPr algn="ctr">
                        <a:defRPr sz="1100" b="1">
                          <a:solidFill>
                            <a:srgbClr val="F8FAFC"/>
                          </a:solidFill>
                        </a:defRPr>
                      </a:pPr>
                      <a:r>
                        <a:t>Functional Responsibility</a:t>
                      </a:r>
                    </a:p>
                  </a:txBody>
                  <a:tcPr>
                    <a:solidFill>
                      <a:srgbClr val="0F4C81"/>
                    </a:solidFill>
                  </a:tcPr>
                </a:tc>
                <a:tc>
                  <a:txBody>
                    <a:bodyPr/>
                    <a:lstStyle/>
                    <a:p>
                      <a:pPr algn="ctr">
                        <a:defRPr sz="1100" b="1">
                          <a:solidFill>
                            <a:srgbClr val="F8FAFC"/>
                          </a:solidFill>
                        </a:defRPr>
                      </a:pPr>
                      <a:r>
                        <a:t>Key Parameters / Settings</a:t>
                      </a:r>
                    </a:p>
                  </a:txBody>
                  <a:tcPr>
                    <a:solidFill>
                      <a:srgbClr val="0F4C81"/>
                    </a:solidFill>
                  </a:tcPr>
                </a:tc>
              </a:tr>
              <a:tr h="627017">
                <a:tc>
                  <a:txBody>
                    <a:bodyPr/>
                    <a:lstStyle/>
                    <a:p>
                      <a:pPr>
                        <a:defRPr sz="1000" b="1">
                          <a:solidFill>
                            <a:srgbClr val="38BDF8"/>
                          </a:solidFill>
                        </a:defRPr>
                      </a:pPr>
                      <a:r>
                        <a:t>Runtime &amp; Language</a:t>
                      </a:r>
                    </a:p>
                  </a:txBody>
                  <a:tcPr>
                    <a:solidFill>
                      <a:srgbClr val="1E293B"/>
                    </a:solidFill>
                  </a:tcPr>
                </a:tc>
                <a:tc>
                  <a:txBody>
                    <a:bodyPr/>
                    <a:lstStyle/>
                    <a:p>
                      <a:pPr>
                        <a:defRPr sz="1000" b="1">
                          <a:solidFill>
                            <a:srgbClr val="F8FAFC"/>
                          </a:solidFill>
                        </a:defRPr>
                      </a:pPr>
                      <a:r>
                        <a:t>Python 3.11 (64-bit)</a:t>
                      </a:r>
                    </a:p>
                  </a:txBody>
                  <a:tcPr>
                    <a:solidFill>
                      <a:srgbClr val="1E293B"/>
                    </a:solidFill>
                  </a:tcPr>
                </a:tc>
                <a:tc>
                  <a:txBody>
                    <a:bodyPr/>
                    <a:lstStyle/>
                    <a:p>
                      <a:pPr>
                        <a:defRPr sz="1000">
                          <a:solidFill>
                            <a:srgbClr val="94A3B8"/>
                          </a:solidFill>
                        </a:defRPr>
                      </a:pPr>
                      <a:r>
                        <a:t>Core execution runtime, event control, automation</a:t>
                      </a:r>
                    </a:p>
                  </a:txBody>
                  <a:tcPr>
                    <a:solidFill>
                      <a:srgbClr val="1E293B"/>
                    </a:solidFill>
                  </a:tcPr>
                </a:tc>
                <a:tc>
                  <a:txBody>
                    <a:bodyPr/>
                    <a:lstStyle/>
                    <a:p>
                      <a:pPr>
                        <a:defRPr sz="1000">
                          <a:solidFill>
                            <a:srgbClr val="94A3B8"/>
                          </a:solidFill>
                        </a:defRPr>
                      </a:pPr>
                      <a:r>
                        <a:t>PyCharm IDE, Windows 11 venv</a:t>
                      </a:r>
                    </a:p>
                  </a:txBody>
                  <a:tcPr>
                    <a:solidFill>
                      <a:srgbClr val="1E293B"/>
                    </a:solidFill>
                  </a:tcPr>
                </a:tc>
              </a:tr>
              <a:tr h="627017">
                <a:tc>
                  <a:txBody>
                    <a:bodyPr/>
                    <a:lstStyle/>
                    <a:p>
                      <a:pPr>
                        <a:defRPr sz="1000" b="1">
                          <a:solidFill>
                            <a:srgbClr val="38BDF8"/>
                          </a:solidFill>
                        </a:defRPr>
                      </a:pPr>
                      <a:r>
                        <a:t>Computer Vision</a:t>
                      </a:r>
                    </a:p>
                  </a:txBody>
                  <a:tcPr>
                    <a:solidFill>
                      <a:srgbClr val="18212F"/>
                    </a:solidFill>
                  </a:tcPr>
                </a:tc>
                <a:tc>
                  <a:txBody>
                    <a:bodyPr/>
                    <a:lstStyle/>
                    <a:p>
                      <a:pPr>
                        <a:defRPr sz="1000" b="1">
                          <a:solidFill>
                            <a:srgbClr val="F8FAFC"/>
                          </a:solidFill>
                        </a:defRPr>
                      </a:pPr>
                      <a:r>
                        <a:t>OpenCV (opencv-python 4.x)</a:t>
                      </a:r>
                    </a:p>
                  </a:txBody>
                  <a:tcPr>
                    <a:solidFill>
                      <a:srgbClr val="18212F"/>
                    </a:solidFill>
                  </a:tcPr>
                </a:tc>
                <a:tc>
                  <a:txBody>
                    <a:bodyPr/>
                    <a:lstStyle/>
                    <a:p>
                      <a:pPr>
                        <a:defRPr sz="1000">
                          <a:solidFill>
                            <a:srgbClr val="94A3B8"/>
                          </a:solidFill>
                        </a:defRPr>
                      </a:pPr>
                      <a:r>
                        <a:t>Camera ingestion, frame drawing, JPEG screenshots</a:t>
                      </a:r>
                    </a:p>
                  </a:txBody>
                  <a:tcPr>
                    <a:solidFill>
                      <a:srgbClr val="18212F"/>
                    </a:solidFill>
                  </a:tcPr>
                </a:tc>
                <a:tc>
                  <a:txBody>
                    <a:bodyPr/>
                    <a:lstStyle/>
                    <a:p>
                      <a:pPr>
                        <a:defRPr sz="1000">
                          <a:solidFill>
                            <a:srgbClr val="94A3B8"/>
                          </a:solidFill>
                        </a:defRPr>
                      </a:pPr>
                      <a:r>
                        <a:t>VideoCapture(0), cv2.imwrite()</a:t>
                      </a:r>
                    </a:p>
                  </a:txBody>
                  <a:tcPr>
                    <a:solidFill>
                      <a:srgbClr val="18212F"/>
                    </a:solidFill>
                  </a:tcPr>
                </a:tc>
              </a:tr>
              <a:tr h="627017">
                <a:tc>
                  <a:txBody>
                    <a:bodyPr/>
                    <a:lstStyle/>
                    <a:p>
                      <a:pPr>
                        <a:defRPr sz="1000" b="1">
                          <a:solidFill>
                            <a:srgbClr val="38BDF8"/>
                          </a:solidFill>
                        </a:defRPr>
                      </a:pPr>
                      <a:r>
                        <a:t>Deep Learning Models</a:t>
                      </a:r>
                    </a:p>
                  </a:txBody>
                  <a:tcPr>
                    <a:solidFill>
                      <a:srgbClr val="1E293B"/>
                    </a:solidFill>
                  </a:tcPr>
                </a:tc>
                <a:tc>
                  <a:txBody>
                    <a:bodyPr/>
                    <a:lstStyle/>
                    <a:p>
                      <a:pPr>
                        <a:defRPr sz="1000" b="1">
                          <a:solidFill>
                            <a:srgbClr val="F8FAFC"/>
                          </a:solidFill>
                        </a:defRPr>
                      </a:pPr>
                      <a:r>
                        <a:t>Ultralytics YOLO (v8 / 11)</a:t>
                      </a:r>
                    </a:p>
                  </a:txBody>
                  <a:tcPr>
                    <a:solidFill>
                      <a:srgbClr val="1E293B"/>
                    </a:solidFill>
                  </a:tcPr>
                </a:tc>
                <a:tc>
                  <a:txBody>
                    <a:bodyPr/>
                    <a:lstStyle/>
                    <a:p>
                      <a:pPr>
                        <a:defRPr sz="1000">
                          <a:solidFill>
                            <a:srgbClr val="94A3B8"/>
                          </a:solidFill>
                        </a:defRPr>
                      </a:pPr>
                      <a:r>
                        <a:t>Object detection inference across live frames</a:t>
                      </a:r>
                    </a:p>
                  </a:txBody>
                  <a:tcPr>
                    <a:solidFill>
                      <a:srgbClr val="1E293B"/>
                    </a:solidFill>
                  </a:tcPr>
                </a:tc>
                <a:tc>
                  <a:txBody>
                    <a:bodyPr/>
                    <a:lstStyle/>
                    <a:p>
                      <a:pPr>
                        <a:defRPr sz="1000">
                          <a:solidFill>
                            <a:srgbClr val="94A3B8"/>
                          </a:solidFill>
                        </a:defRPr>
                      </a:pPr>
                      <a:r>
                        <a:t>Image size: 640x640, PyTorch GPU/CPU</a:t>
                      </a:r>
                    </a:p>
                  </a:txBody>
                  <a:tcPr>
                    <a:solidFill>
                      <a:srgbClr val="1E293B"/>
                    </a:solidFill>
                  </a:tcPr>
                </a:tc>
              </a:tr>
              <a:tr h="627017">
                <a:tc>
                  <a:txBody>
                    <a:bodyPr/>
                    <a:lstStyle/>
                    <a:p>
                      <a:pPr>
                        <a:defRPr sz="1000" b="1">
                          <a:solidFill>
                            <a:srgbClr val="38BDF8"/>
                          </a:solidFill>
                        </a:defRPr>
                      </a:pPr>
                      <a:r>
                        <a:t>Object Tracking</a:t>
                      </a:r>
                    </a:p>
                  </a:txBody>
                  <a:tcPr>
                    <a:solidFill>
                      <a:srgbClr val="18212F"/>
                    </a:solidFill>
                  </a:tcPr>
                </a:tc>
                <a:tc>
                  <a:txBody>
                    <a:bodyPr/>
                    <a:lstStyle/>
                    <a:p>
                      <a:pPr>
                        <a:defRPr sz="1000" b="1">
                          <a:solidFill>
                            <a:srgbClr val="F8FAFC"/>
                          </a:solidFill>
                        </a:defRPr>
                      </a:pPr>
                      <a:r>
                        <a:t>ByteTrack (bytetrack.yaml)</a:t>
                      </a:r>
                    </a:p>
                  </a:txBody>
                  <a:tcPr>
                    <a:solidFill>
                      <a:srgbClr val="18212F"/>
                    </a:solidFill>
                  </a:tcPr>
                </a:tc>
                <a:tc>
                  <a:txBody>
                    <a:bodyPr/>
                    <a:lstStyle/>
                    <a:p>
                      <a:pPr>
                        <a:defRPr sz="1000">
                          <a:solidFill>
                            <a:srgbClr val="94A3B8"/>
                          </a:solidFill>
                        </a:defRPr>
                      </a:pPr>
                      <a:r>
                        <a:t>Associates bounding boxes to maintain track IDs</a:t>
                      </a:r>
                    </a:p>
                  </a:txBody>
                  <a:tcPr>
                    <a:solidFill>
                      <a:srgbClr val="18212F"/>
                    </a:solidFill>
                  </a:tcPr>
                </a:tc>
                <a:tc>
                  <a:txBody>
                    <a:bodyPr/>
                    <a:lstStyle/>
                    <a:p>
                      <a:pPr>
                        <a:defRPr sz="1000">
                          <a:solidFill>
                            <a:srgbClr val="94A3B8"/>
                          </a:solidFill>
                        </a:defRPr>
                      </a:pPr>
                      <a:r>
                        <a:t>persist=True, classes=[0] (Person)</a:t>
                      </a:r>
                    </a:p>
                  </a:txBody>
                  <a:tcPr>
                    <a:solidFill>
                      <a:srgbClr val="18212F"/>
                    </a:solidFill>
                  </a:tcPr>
                </a:tc>
              </a:tr>
              <a:tr h="627017">
                <a:tc>
                  <a:txBody>
                    <a:bodyPr/>
                    <a:lstStyle/>
                    <a:p>
                      <a:pPr>
                        <a:defRPr sz="1000" b="1">
                          <a:solidFill>
                            <a:srgbClr val="38BDF8"/>
                          </a:solidFill>
                        </a:defRPr>
                      </a:pPr>
                      <a:r>
                        <a:t>Model Hub</a:t>
                      </a:r>
                    </a:p>
                  </a:txBody>
                  <a:tcPr>
                    <a:solidFill>
                      <a:srgbClr val="1E293B"/>
                    </a:solidFill>
                  </a:tcPr>
                </a:tc>
                <a:tc>
                  <a:txBody>
                    <a:bodyPr/>
                    <a:lstStyle/>
                    <a:p>
                      <a:pPr>
                        <a:defRPr sz="1000" b="1">
                          <a:solidFill>
                            <a:srgbClr val="F8FAFC"/>
                          </a:solidFill>
                        </a:defRPr>
                      </a:pPr>
                      <a:r>
                        <a:t>Hugging Face Hub API</a:t>
                      </a:r>
                    </a:p>
                  </a:txBody>
                  <a:tcPr>
                    <a:solidFill>
                      <a:srgbClr val="1E293B"/>
                    </a:solidFill>
                  </a:tcPr>
                </a:tc>
                <a:tc>
                  <a:txBody>
                    <a:bodyPr/>
                    <a:lstStyle/>
                    <a:p>
                      <a:pPr>
                        <a:defRPr sz="1000">
                          <a:solidFill>
                            <a:srgbClr val="94A3B8"/>
                          </a:solidFill>
                        </a:defRPr>
                      </a:pPr>
                      <a:r>
                        <a:t>Pretrained weights repository for specialized models</a:t>
                      </a:r>
                    </a:p>
                  </a:txBody>
                  <a:tcPr>
                    <a:solidFill>
                      <a:srgbClr val="1E293B"/>
                    </a:solidFill>
                  </a:tcPr>
                </a:tc>
                <a:tc>
                  <a:txBody>
                    <a:bodyPr/>
                    <a:lstStyle/>
                    <a:p>
                      <a:pPr>
                        <a:defRPr sz="1000">
                          <a:solidFill>
                            <a:srgbClr val="94A3B8"/>
                          </a:solidFill>
                        </a:defRPr>
                      </a:pPr>
                      <a:r>
                        <a:t>rabahdev/fire-smoke, cosgun99/gun-knife</a:t>
                      </a:r>
                    </a:p>
                  </a:txBody>
                  <a:tcPr>
                    <a:solidFill>
                      <a:srgbClr val="1E293B"/>
                    </a:solidFill>
                  </a:tcPr>
                </a:tc>
              </a:tr>
              <a:tr h="627018">
                <a:tc>
                  <a:txBody>
                    <a:bodyPr/>
                    <a:lstStyle/>
                    <a:p>
                      <a:pPr>
                        <a:defRPr sz="1000" b="1">
                          <a:solidFill>
                            <a:srgbClr val="38BDF8"/>
                          </a:solidFill>
                        </a:defRPr>
                      </a:pPr>
                      <a:r>
                        <a:t>Storage &amp; Alerting</a:t>
                      </a:r>
                    </a:p>
                  </a:txBody>
                  <a:tcPr>
                    <a:solidFill>
                      <a:srgbClr val="18212F"/>
                    </a:solidFill>
                  </a:tcPr>
                </a:tc>
                <a:tc>
                  <a:txBody>
                    <a:bodyPr/>
                    <a:lstStyle/>
                    <a:p>
                      <a:pPr>
                        <a:defRPr sz="1000" b="1">
                          <a:solidFill>
                            <a:srgbClr val="F8FAFC"/>
                          </a:solidFill>
                        </a:defRPr>
                      </a:pPr>
                      <a:r>
                        <a:t>SQLite3 &amp; Python smtplib</a:t>
                      </a:r>
                    </a:p>
                  </a:txBody>
                  <a:tcPr>
                    <a:solidFill>
                      <a:srgbClr val="18212F"/>
                    </a:solidFill>
                  </a:tcPr>
                </a:tc>
                <a:tc>
                  <a:txBody>
                    <a:bodyPr/>
                    <a:lstStyle/>
                    <a:p>
                      <a:pPr>
                        <a:defRPr sz="1000">
                          <a:solidFill>
                            <a:srgbClr val="94A3B8"/>
                          </a:solidFill>
                        </a:defRPr>
                      </a:pPr>
                      <a:r>
                        <a:t>Relational audit logs &amp; automated email delivery</a:t>
                      </a:r>
                    </a:p>
                  </a:txBody>
                  <a:tcPr>
                    <a:solidFill>
                      <a:srgbClr val="18212F"/>
                    </a:solidFill>
                  </a:tcPr>
                </a:tc>
                <a:tc>
                  <a:txBody>
                    <a:bodyPr/>
                    <a:lstStyle/>
                    <a:p>
                      <a:pPr>
                        <a:defRPr sz="1000">
                          <a:solidFill>
                            <a:srgbClr val="94A3B8"/>
                          </a:solidFill>
                        </a:defRPr>
                      </a:pPr>
                      <a:r>
                        <a:t>security.db, Gmail SMTP (TLS 587)</a:t>
                      </a:r>
                    </a:p>
                  </a:txBody>
                  <a:tcPr>
                    <a:solidFill>
                      <a:srgbClr val="18212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FEATURE 1 — DEEP LEARNING TRACKING</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Person Detection &amp; ByteTrack Multi-Object Association</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Real-time person localization combined with persistent temporal identity assignment across video frames</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621792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YOLO11n + ByteTrack Mechanism</a:t>
            </a:r>
          </a:p>
          <a:p>
            <a:pPr>
              <a:spcAft>
                <a:spcPts val="200"/>
              </a:spcAft>
              <a:defRPr sz="1100" b="1">
                <a:solidFill>
                  <a:srgbClr val="F8FAFC"/>
                </a:solidFill>
              </a:defRPr>
            </a:pPr>
            <a:r>
              <a:t>Model Weight Selection:</a:t>
            </a:r>
          </a:p>
          <a:p>
            <a:pPr>
              <a:spcAft>
                <a:spcPts val="600"/>
              </a:spcAft>
              <a:defRPr sz="1000" b="0">
                <a:solidFill>
                  <a:srgbClr val="94A3B8"/>
                </a:solidFill>
              </a:defRPr>
            </a:pPr>
            <a:r>
              <a:t>The system loads local YOLO11n weights (yolo11n.pt), representing the latest lightweight state-of-the-art vision architecture optimized for high frame rate execution.</a:t>
            </a:r>
          </a:p>
          <a:p>
            <a:pPr>
              <a:spcAft>
                <a:spcPts val="200"/>
              </a:spcAft>
              <a:defRPr sz="1100" b="1">
                <a:solidFill>
                  <a:srgbClr val="F8FAFC"/>
                </a:solidFill>
              </a:defRPr>
            </a:pPr>
            <a:r>
              <a:t>Ultralytics Tracking Interface:</a:t>
            </a:r>
          </a:p>
          <a:p>
            <a:pPr>
              <a:spcAft>
                <a:spcPts val="600"/>
              </a:spcAft>
              <a:defRPr sz="1000" b="0">
                <a:solidFill>
                  <a:srgbClr val="94A3B8"/>
                </a:solidFill>
              </a:defRPr>
            </a:pPr>
            <a:r>
              <a:t>person_model.track(frame, persist=True, tracker='bytetrack.yaml', classes=[0], verbose=False)</a:t>
            </a:r>
            <a:br/>
            <a:r>
              <a:t>• classes=[0] filters inference strictly to COCO 'person'.</a:t>
            </a:r>
            <a:br/>
            <a:r>
              <a:t>• persist=True maintains memory of tracks across sequential frames.</a:t>
            </a:r>
          </a:p>
          <a:p>
            <a:pPr>
              <a:spcAft>
                <a:spcPts val="200"/>
              </a:spcAft>
              <a:defRPr sz="1100" b="1">
                <a:solidFill>
                  <a:srgbClr val="F8FAFC"/>
                </a:solidFill>
              </a:defRPr>
            </a:pPr>
            <a:r>
              <a:t>Why ByteTrack Matters in Surveillance:</a:t>
            </a:r>
          </a:p>
          <a:p>
            <a:pPr>
              <a:spcAft>
                <a:spcPts val="600"/>
              </a:spcAft>
              <a:defRPr sz="1000" b="0">
                <a:solidFill>
                  <a:srgbClr val="94A3B8"/>
                </a:solidFill>
              </a:defRPr>
            </a:pPr>
            <a:r>
              <a:t>Traditional trackers discard low-confidence detections, dropping tracks when a person turns or experiences partial occlusion. ByteTrack retains low-score detection boxes and associates them using Kalman Filter motion predictions, dramatically reducing ID switches.</a:t>
            </a:r>
          </a:p>
          <a:p>
            <a:pPr>
              <a:spcAft>
                <a:spcPts val="200"/>
              </a:spcAft>
              <a:defRPr sz="1100" b="1">
                <a:solidFill>
                  <a:srgbClr val="F8FAFC"/>
                </a:solidFill>
              </a:defRPr>
            </a:pPr>
            <a:r>
              <a:t>Crucial Technical Distinction:</a:t>
            </a:r>
          </a:p>
          <a:p>
            <a:pPr>
              <a:spcAft>
                <a:spcPts val="600"/>
              </a:spcAft>
              <a:defRPr sz="1000" b="0">
                <a:solidFill>
                  <a:srgbClr val="94A3B8"/>
                </a:solidFill>
              </a:defRPr>
            </a:pPr>
            <a:r>
              <a:t>ByteTrack provides spatial-temporal tracking IDs (#1, #2, #3), identifying that a detection represents the same physical body. It does not perform facial recognition or determine personal identity.</a:t>
            </a:r>
          </a:p>
        </p:txBody>
      </p:sp>
      <p:sp>
        <p:nvSpPr>
          <p:cNvPr id="9" name="Rounded Rectangle 8"/>
          <p:cNvSpPr/>
          <p:nvPr/>
        </p:nvSpPr>
        <p:spPr>
          <a:xfrm>
            <a:off x="7223760" y="1737360"/>
            <a:ext cx="420624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Tracking Pipeline Parameters</a:t>
            </a:r>
          </a:p>
          <a:p>
            <a:pPr>
              <a:spcAft>
                <a:spcPts val="100"/>
              </a:spcAft>
              <a:defRPr sz="1000" b="1">
                <a:solidFill>
                  <a:srgbClr val="38BDF8"/>
                </a:solidFill>
              </a:defRPr>
            </a:pPr>
            <a:r>
              <a:t>Architecture:</a:t>
            </a:r>
          </a:p>
          <a:p>
            <a:pPr>
              <a:spcAft>
                <a:spcPts val="300"/>
              </a:spcAft>
              <a:defRPr sz="950">
                <a:solidFill>
                  <a:srgbClr val="F8FAFC"/>
                </a:solidFill>
              </a:defRPr>
            </a:pPr>
            <a:r>
              <a:t>  Ultralytics YOLO11n (Nano)</a:t>
            </a:r>
          </a:p>
          <a:p>
            <a:pPr>
              <a:spcAft>
                <a:spcPts val="100"/>
              </a:spcAft>
              <a:defRPr sz="1000" b="1">
                <a:solidFill>
                  <a:srgbClr val="38BDF8"/>
                </a:solidFill>
              </a:defRPr>
            </a:pPr>
            <a:r>
              <a:t>Model Weights:</a:t>
            </a:r>
          </a:p>
          <a:p>
            <a:pPr>
              <a:spcAft>
                <a:spcPts val="300"/>
              </a:spcAft>
              <a:defRPr sz="950">
                <a:solidFill>
                  <a:srgbClr val="F8FAFC"/>
                </a:solidFill>
              </a:defRPr>
            </a:pPr>
            <a:r>
              <a:t>  Local ./yolo11n.pt</a:t>
            </a:r>
          </a:p>
          <a:p>
            <a:pPr>
              <a:spcAft>
                <a:spcPts val="100"/>
              </a:spcAft>
              <a:defRPr sz="1000" b="1">
                <a:solidFill>
                  <a:srgbClr val="38BDF8"/>
                </a:solidFill>
              </a:defRPr>
            </a:pPr>
            <a:r>
              <a:t>Target Class:</a:t>
            </a:r>
          </a:p>
          <a:p>
            <a:pPr>
              <a:spcAft>
                <a:spcPts val="300"/>
              </a:spcAft>
              <a:defRPr sz="950">
                <a:solidFill>
                  <a:srgbClr val="F8FAFC"/>
                </a:solidFill>
              </a:defRPr>
            </a:pPr>
            <a:r>
              <a:t>  COCO Class 0 ('person')</a:t>
            </a:r>
          </a:p>
          <a:p>
            <a:pPr>
              <a:spcAft>
                <a:spcPts val="100"/>
              </a:spcAft>
              <a:defRPr sz="1000" b="1">
                <a:solidFill>
                  <a:srgbClr val="38BDF8"/>
                </a:solidFill>
              </a:defRPr>
            </a:pPr>
            <a:r>
              <a:t>Tracking Engine:</a:t>
            </a:r>
          </a:p>
          <a:p>
            <a:pPr>
              <a:spcAft>
                <a:spcPts val="300"/>
              </a:spcAft>
              <a:defRPr sz="950">
                <a:solidFill>
                  <a:srgbClr val="F8FAFC"/>
                </a:solidFill>
              </a:defRPr>
            </a:pPr>
            <a:r>
              <a:t>  ByteTrack Association</a:t>
            </a:r>
          </a:p>
          <a:p>
            <a:pPr>
              <a:spcAft>
                <a:spcPts val="100"/>
              </a:spcAft>
              <a:defRPr sz="1000" b="1">
                <a:solidFill>
                  <a:srgbClr val="38BDF8"/>
                </a:solidFill>
              </a:defRPr>
            </a:pPr>
            <a:r>
              <a:t>Tracking Configuration:</a:t>
            </a:r>
          </a:p>
          <a:p>
            <a:pPr>
              <a:spcAft>
                <a:spcPts val="300"/>
              </a:spcAft>
              <a:defRPr sz="950">
                <a:solidFill>
                  <a:srgbClr val="F8FAFC"/>
                </a:solidFill>
              </a:defRPr>
            </a:pPr>
            <a:r>
              <a:t>  bytetrack.yaml</a:t>
            </a:r>
          </a:p>
          <a:p>
            <a:pPr>
              <a:spcAft>
                <a:spcPts val="100"/>
              </a:spcAft>
              <a:defRPr sz="1000" b="1">
                <a:solidFill>
                  <a:srgbClr val="38BDF8"/>
                </a:solidFill>
              </a:defRPr>
            </a:pPr>
            <a:r>
              <a:t>ID Persistence:</a:t>
            </a:r>
          </a:p>
          <a:p>
            <a:pPr>
              <a:spcAft>
                <a:spcPts val="300"/>
              </a:spcAft>
              <a:defRPr sz="950">
                <a:solidFill>
                  <a:srgbClr val="F8FAFC"/>
                </a:solidFill>
              </a:defRPr>
            </a:pPr>
            <a:r>
              <a:t>  persist=True enabled</a:t>
            </a:r>
          </a:p>
          <a:p>
            <a:pPr>
              <a:spcAft>
                <a:spcPts val="100"/>
              </a:spcAft>
              <a:defRPr sz="1000" b="1">
                <a:solidFill>
                  <a:srgbClr val="38BDF8"/>
                </a:solidFill>
              </a:defRPr>
            </a:pPr>
            <a:r>
              <a:t>Visualization:</a:t>
            </a:r>
          </a:p>
          <a:p>
            <a:pPr>
              <a:spcAft>
                <a:spcPts val="300"/>
              </a:spcAft>
              <a:defRPr sz="950">
                <a:solidFill>
                  <a:srgbClr val="F8FAFC"/>
                </a:solidFill>
              </a:defRPr>
            </a:pPr>
            <a:r>
              <a:t>  Bounding boxes with Track IDs</a:t>
            </a:r>
          </a:p>
          <a:p>
            <a:pPr>
              <a:spcAft>
                <a:spcPts val="100"/>
              </a:spcAft>
              <a:defRPr sz="1000" b="1">
                <a:solidFill>
                  <a:srgbClr val="38BDF8"/>
                </a:solidFill>
              </a:defRPr>
            </a:pPr>
            <a:r>
              <a:t>Execution Overhead:</a:t>
            </a:r>
          </a:p>
          <a:p>
            <a:pPr>
              <a:spcAft>
                <a:spcPts val="300"/>
              </a:spcAft>
              <a:defRPr sz="950">
                <a:solidFill>
                  <a:srgbClr val="F8FAFC"/>
                </a:solidFill>
              </a:defRPr>
            </a:pPr>
            <a:r>
              <a:t>  Real-time (&gt; 25-30 FPS on GPU)</a:t>
            </a:r>
          </a:p>
          <a:p>
            <a:pPr>
              <a:spcAft>
                <a:spcPts val="100"/>
              </a:spcAft>
              <a:defRPr sz="1000" b="1">
                <a:solidFill>
                  <a:srgbClr val="38BDF8"/>
                </a:solidFill>
              </a:defRPr>
            </a:pPr>
            <a:r>
              <a:t>Intrusion Linkage:</a:t>
            </a:r>
          </a:p>
          <a:p>
            <a:pPr>
              <a:spcAft>
                <a:spcPts val="300"/>
              </a:spcAft>
              <a:defRPr sz="950">
                <a:solidFill>
                  <a:srgbClr val="F8FAFC"/>
                </a:solidFill>
              </a:defRPr>
            </a:pPr>
            <a:r>
              <a:t>  Track ID forwarded to zone logic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FEATURE 2 — SPATIAL SECURITY</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Restricted-Zone Intrusion Detection Logic</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Coordinate-calibrated virtual perimeter monitoring with centroid computation and temporal grace handling</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Geometric Boundary Analytics</a:t>
            </a:r>
          </a:p>
          <a:p>
            <a:pPr>
              <a:spcAft>
                <a:spcPts val="200"/>
              </a:spcAft>
              <a:defRPr sz="1100" b="1">
                <a:solidFill>
                  <a:srgbClr val="F8FAFC"/>
                </a:solidFill>
              </a:defRPr>
            </a:pPr>
            <a:r>
              <a:t>Virtual Perimeter Definition:</a:t>
            </a:r>
          </a:p>
          <a:p>
            <a:pPr>
              <a:spcAft>
                <a:spcPts val="600"/>
              </a:spcAft>
              <a:defRPr sz="1000" b="0">
                <a:solidFill>
                  <a:srgbClr val="94A3B8"/>
                </a:solidFill>
              </a:defRPr>
            </a:pPr>
            <a:r>
              <a:t>The surveillance application defines a virtual rectangular boundary with pixel coordinates:</a:t>
            </a:r>
            <a:br/>
            <a:r>
              <a:t>(x1, y1) = (200, 150)  to  (x2, y2) = (500, 400)</a:t>
            </a:r>
            <a:br/>
            <a:r>
              <a:t>Rendered live with a red border and 'RESTRICTED AREA' warning.</a:t>
            </a:r>
          </a:p>
          <a:p>
            <a:pPr>
              <a:spcAft>
                <a:spcPts val="200"/>
              </a:spcAft>
              <a:defRPr sz="1100" b="1">
                <a:solidFill>
                  <a:srgbClr val="F8FAFC"/>
                </a:solidFill>
              </a:defRPr>
            </a:pPr>
            <a:r>
              <a:t>Centroid Mathematical Formulation:</a:t>
            </a:r>
          </a:p>
          <a:p>
            <a:pPr>
              <a:spcAft>
                <a:spcPts val="600"/>
              </a:spcAft>
              <a:defRPr sz="1000" b="0">
                <a:solidFill>
                  <a:srgbClr val="94A3B8"/>
                </a:solidFill>
              </a:defRPr>
            </a:pPr>
            <a:r>
              <a:t>For each detected person bounding box (x1, y1, x2, y2), the system calculates the geometric center (cx, cy):</a:t>
            </a:r>
            <a:br/>
            <a:r>
              <a:t>  cx = (x1 + x2) / 2</a:t>
            </a:r>
            <a:br/>
            <a:r>
              <a:t>  cy = (y1 + y2) / 2</a:t>
            </a:r>
          </a:p>
          <a:p>
            <a:pPr>
              <a:spcAft>
                <a:spcPts val="200"/>
              </a:spcAft>
              <a:defRPr sz="1100" b="1">
                <a:solidFill>
                  <a:srgbClr val="F8FAFC"/>
                </a:solidFill>
              </a:defRPr>
            </a:pPr>
            <a:r>
              <a:t>Intrusion Condition Check:</a:t>
            </a:r>
          </a:p>
          <a:p>
            <a:pPr>
              <a:spcAft>
                <a:spcPts val="600"/>
              </a:spcAft>
              <a:defRPr sz="1000" b="0">
                <a:solidFill>
                  <a:srgbClr val="94A3B8"/>
                </a:solidFill>
              </a:defRPr>
            </a:pPr>
            <a:r>
              <a:t>An intrusion event is mathematically verified if and only if:</a:t>
            </a:r>
            <a:br/>
            <a:r>
              <a:t>  200 &lt; cx &lt; 500  AND  150 &lt; cy &lt; 400</a:t>
            </a:r>
          </a:p>
          <a:p>
            <a:pPr>
              <a:spcAft>
                <a:spcPts val="200"/>
              </a:spcAft>
              <a:defRPr sz="1100" b="1">
                <a:solidFill>
                  <a:srgbClr val="F8FAFC"/>
                </a:solidFill>
              </a:defRPr>
            </a:pPr>
            <a:r>
              <a:t>Immediate Dispatch Logic:</a:t>
            </a:r>
          </a:p>
          <a:p>
            <a:pPr>
              <a:spcAft>
                <a:spcPts val="600"/>
              </a:spcAft>
              <a:defRPr sz="1000" b="0">
                <a:solidFill>
                  <a:srgbClr val="94A3B8"/>
                </a:solidFill>
              </a:defRPr>
            </a:pPr>
            <a:r>
              <a:t>Unlike environmental hazards requiring 3-frame confirmation, intrusion triggers save_event() immediately upon the first validated frame of unauthorized boundary crossing.</a:t>
            </a:r>
          </a:p>
        </p:txBody>
      </p:sp>
      <p:sp>
        <p:nvSpPr>
          <p:cNvPr id="9" name="Rounded Rectangle 8"/>
          <p:cNvSpPr/>
          <p:nvPr/>
        </p:nvSpPr>
        <p:spPr>
          <a:xfrm>
            <a:off x="62179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Intruder State Machine &amp; Grace Period</a:t>
            </a:r>
          </a:p>
          <a:p>
            <a:pPr>
              <a:spcAft>
                <a:spcPts val="200"/>
              </a:spcAft>
              <a:defRPr sz="1100" b="1">
                <a:solidFill>
                  <a:srgbClr val="F8FAFC"/>
                </a:solidFill>
              </a:defRPr>
            </a:pPr>
            <a:r>
              <a:t>Current Frame Set (current_intruders):</a:t>
            </a:r>
          </a:p>
          <a:p>
            <a:pPr>
              <a:spcAft>
                <a:spcPts val="600"/>
              </a:spcAft>
              <a:defRPr sz="1000" b="0">
                <a:solidFill>
                  <a:srgbClr val="94A3B8"/>
                </a:solidFill>
              </a:defRPr>
            </a:pPr>
            <a:r>
              <a:t>Records all tracking IDs whose centroids currently lie within the restricted coordinates in the active frame.</a:t>
            </a:r>
          </a:p>
          <a:p>
            <a:pPr>
              <a:spcAft>
                <a:spcPts val="200"/>
              </a:spcAft>
              <a:defRPr sz="1100" b="1">
                <a:solidFill>
                  <a:srgbClr val="F8FAFC"/>
                </a:solidFill>
              </a:defRPr>
            </a:pPr>
            <a:r>
              <a:t>Persistent Intruder Registry (intruders_inside):</a:t>
            </a:r>
          </a:p>
          <a:p>
            <a:pPr>
              <a:spcAft>
                <a:spcPts val="600"/>
              </a:spcAft>
              <a:defRPr sz="1000" b="0">
                <a:solidFill>
                  <a:srgbClr val="94A3B8"/>
                </a:solidFill>
              </a:defRPr>
            </a:pPr>
            <a:r>
              <a:t>Maintains known intruders across sequential frames. Prevents duplicate alerts and spam while the same person remains in the zone.</a:t>
            </a:r>
          </a:p>
          <a:p>
            <a:pPr>
              <a:spcAft>
                <a:spcPts val="200"/>
              </a:spcAft>
              <a:defRPr sz="1100" b="1">
                <a:solidFill>
                  <a:srgbClr val="F8FAFC"/>
                </a:solidFill>
              </a:defRPr>
            </a:pPr>
            <a:r>
              <a:t>15-Frame Grace Period (INTRUDER_GRACE_FRAMES):</a:t>
            </a:r>
          </a:p>
          <a:p>
            <a:pPr>
              <a:spcAft>
                <a:spcPts val="600"/>
              </a:spcAft>
              <a:defRPr sz="1000" b="0">
                <a:solidFill>
                  <a:srgbClr val="94A3B8"/>
                </a:solidFill>
              </a:defRPr>
            </a:pPr>
            <a:r>
              <a:t>If tracking is momentarily interrupted (e.g., person occluded or detector misses a frame), intruder_missing_frames increments without immediately forgetting the intruder.</a:t>
            </a:r>
            <a:br/>
            <a:r>
              <a:t>• Prevents re-triggering duplicate intrusion alerts if the person is re-acquired within 15 frames.</a:t>
            </a:r>
          </a:p>
          <a:p>
            <a:pPr>
              <a:spcAft>
                <a:spcPts val="200"/>
              </a:spcAft>
              <a:defRPr sz="1100" b="1">
                <a:solidFill>
                  <a:srgbClr val="F8FAFC"/>
                </a:solidFill>
              </a:defRPr>
            </a:pPr>
            <a:r>
              <a:t>Zone Exit &amp; Reset:</a:t>
            </a:r>
          </a:p>
          <a:p>
            <a:pPr>
              <a:spcAft>
                <a:spcPts val="600"/>
              </a:spcAft>
              <a:defRPr sz="1000" b="0">
                <a:solidFill>
                  <a:srgbClr val="94A3B8"/>
                </a:solidFill>
              </a:defRPr>
            </a:pPr>
            <a:r>
              <a:t>Once a tracked individual is absent from the zone for &gt; 15 consecutive frames, their ID is safely purged from intruders_inside, re-arming the system for future breaches.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FEATURE 3 — ENVIRONMENTAL SAFETY</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Dual Fire &amp; Smoke Hazard Detection</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Specialized YOLO neural network for concurrent industrial flame and smoke plume classification</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Specialized Model Architecture</a:t>
            </a:r>
          </a:p>
          <a:p>
            <a:pPr>
              <a:spcAft>
                <a:spcPts val="200"/>
              </a:spcAft>
              <a:defRPr sz="1100" b="1">
                <a:solidFill>
                  <a:srgbClr val="F8FAFC"/>
                </a:solidFill>
              </a:defRPr>
            </a:pPr>
            <a:r>
              <a:t>Model Provenance &amp; Source:</a:t>
            </a:r>
          </a:p>
          <a:p>
            <a:pPr>
              <a:spcAft>
                <a:spcPts val="600"/>
              </a:spcAft>
              <a:defRPr sz="1000" b="0">
                <a:solidFill>
                  <a:srgbClr val="94A3B8"/>
                </a:solidFill>
              </a:defRPr>
            </a:pPr>
            <a:r>
              <a:t>Downloaded dynamically from Hugging Face Hub:</a:t>
            </a:r>
            <a:br/>
            <a:r>
              <a:t>  Repository: rabahdev/fire-smoke-yolov8n</a:t>
            </a:r>
            <a:br/>
            <a:r>
              <a:t>  Loaded locally via Ultralytics YOLO(best.pt)</a:t>
            </a:r>
          </a:p>
          <a:p>
            <a:pPr>
              <a:spcAft>
                <a:spcPts val="200"/>
              </a:spcAft>
              <a:defRPr sz="1100" b="1">
                <a:solidFill>
                  <a:srgbClr val="F8FAFC"/>
                </a:solidFill>
              </a:defRPr>
            </a:pPr>
            <a:r>
              <a:t>Dual-Class Hazard Recognition:</a:t>
            </a:r>
          </a:p>
          <a:p>
            <a:pPr>
              <a:spcAft>
                <a:spcPts val="600"/>
              </a:spcAft>
              <a:defRPr sz="1000" b="0">
                <a:solidFill>
                  <a:srgbClr val="94A3B8"/>
                </a:solidFill>
              </a:defRPr>
            </a:pPr>
            <a:r>
              <a:t>A single neural model simultaneously classifies two distinct environmental safety hazards: Active Fire and Smoke Plumes.</a:t>
            </a:r>
            <a:br/>
            <a:r>
              <a:t>• Avoids maintaining two separate neural networks in memory.</a:t>
            </a:r>
          </a:p>
          <a:p>
            <a:pPr>
              <a:spcAft>
                <a:spcPts val="200"/>
              </a:spcAft>
              <a:defRPr sz="1100" b="1">
                <a:solidFill>
                  <a:srgbClr val="F8FAFC"/>
                </a:solidFill>
              </a:defRPr>
            </a:pPr>
            <a:r>
              <a:t>Label Normalization Pipeline:</a:t>
            </a:r>
          </a:p>
          <a:p>
            <a:pPr>
              <a:spcAft>
                <a:spcPts val="600"/>
              </a:spcAft>
              <a:defRPr sz="1000" b="0">
                <a:solidFill>
                  <a:srgbClr val="94A3B8"/>
                </a:solidFill>
              </a:defRPr>
            </a:pPr>
            <a:r>
              <a:t>Predictions are sanitized by converting string labels to uppercase:</a:t>
            </a:r>
            <a:br/>
            <a:r>
              <a:t>  label.upper() in ['FIRE', 'SMOKE']</a:t>
            </a:r>
            <a:br/>
            <a:r>
              <a:t>• Discards irrelevant background detections and maps to system event types.</a:t>
            </a:r>
          </a:p>
          <a:p>
            <a:pPr>
              <a:spcAft>
                <a:spcPts val="200"/>
              </a:spcAft>
              <a:defRPr sz="1100" b="1">
                <a:solidFill>
                  <a:srgbClr val="F8FAFC"/>
                </a:solidFill>
              </a:defRPr>
            </a:pPr>
            <a:r>
              <a:t>Independent Hazard Processing:</a:t>
            </a:r>
          </a:p>
          <a:p>
            <a:pPr>
              <a:spcAft>
                <a:spcPts val="600"/>
              </a:spcAft>
              <a:defRPr sz="1000" b="0">
                <a:solidFill>
                  <a:srgbClr val="94A3B8"/>
                </a:solidFill>
              </a:defRPr>
            </a:pPr>
            <a:r>
              <a:t>Fire and Smoke are maintained as separate event categories in the confirmation state machine, ensuring customized alert logging for each threat.</a:t>
            </a:r>
          </a:p>
        </p:txBody>
      </p:sp>
      <p:sp>
        <p:nvSpPr>
          <p:cNvPr id="9" name="Rounded Rectangle 8"/>
          <p:cNvSpPr/>
          <p:nvPr/>
        </p:nvSpPr>
        <p:spPr>
          <a:xfrm>
            <a:off x="62179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Inference Calibration &amp; Thresholds</a:t>
            </a:r>
          </a:p>
          <a:p>
            <a:pPr>
              <a:spcAft>
                <a:spcPts val="100"/>
              </a:spcAft>
              <a:defRPr sz="1050" b="1">
                <a:solidFill>
                  <a:srgbClr val="38BDF8"/>
                </a:solidFill>
              </a:defRPr>
            </a:pPr>
            <a:r>
              <a:t>Inference Image Resolution:</a:t>
            </a:r>
          </a:p>
          <a:p>
            <a:pPr>
              <a:spcAft>
                <a:spcPts val="300"/>
              </a:spcAft>
              <a:defRPr sz="950">
                <a:solidFill>
                  <a:srgbClr val="F8FAFC"/>
                </a:solidFill>
              </a:defRPr>
            </a:pPr>
            <a:r>
              <a:t>  640 x 640 pixels</a:t>
            </a:r>
          </a:p>
          <a:p>
            <a:pPr>
              <a:spcAft>
                <a:spcPts val="100"/>
              </a:spcAft>
              <a:defRPr sz="1050" b="1">
                <a:solidFill>
                  <a:srgbClr val="38BDF8"/>
                </a:solidFill>
              </a:defRPr>
            </a:pPr>
            <a:r>
              <a:t>Confidence Threshold (conf):</a:t>
            </a:r>
          </a:p>
          <a:p>
            <a:pPr>
              <a:spcAft>
                <a:spcPts val="300"/>
              </a:spcAft>
              <a:defRPr sz="950">
                <a:solidFill>
                  <a:srgbClr val="F8FAFC"/>
                </a:solidFill>
              </a:defRPr>
            </a:pPr>
            <a:r>
              <a:t>  0.35 (Balances recall for early flame detection)</a:t>
            </a:r>
          </a:p>
          <a:p>
            <a:pPr>
              <a:spcAft>
                <a:spcPts val="100"/>
              </a:spcAft>
              <a:defRPr sz="1050" b="1">
                <a:solidFill>
                  <a:srgbClr val="38BDF8"/>
                </a:solidFill>
              </a:defRPr>
            </a:pPr>
            <a:r>
              <a:t>IoU Suppression Threshold (iou):</a:t>
            </a:r>
          </a:p>
          <a:p>
            <a:pPr>
              <a:spcAft>
                <a:spcPts val="300"/>
              </a:spcAft>
              <a:defRPr sz="950">
                <a:solidFill>
                  <a:srgbClr val="F8FAFC"/>
                </a:solidFill>
              </a:defRPr>
            </a:pPr>
            <a:r>
              <a:t>  0.45 (Eliminates redundant overlapping boxes)</a:t>
            </a:r>
          </a:p>
          <a:p>
            <a:pPr>
              <a:spcAft>
                <a:spcPts val="100"/>
              </a:spcAft>
              <a:defRPr sz="1050" b="1">
                <a:solidFill>
                  <a:srgbClr val="38BDF8"/>
                </a:solidFill>
              </a:defRPr>
            </a:pPr>
            <a:r>
              <a:t>Visual Bounding Box:</a:t>
            </a:r>
          </a:p>
          <a:p>
            <a:pPr>
              <a:spcAft>
                <a:spcPts val="300"/>
              </a:spcAft>
              <a:defRPr sz="950">
                <a:solidFill>
                  <a:srgbClr val="F8FAFC"/>
                </a:solidFill>
              </a:defRPr>
            </a:pPr>
            <a:r>
              <a:t>  Colored border with label &amp; confidence: 'FIRE: 0.87'</a:t>
            </a:r>
          </a:p>
          <a:p>
            <a:pPr>
              <a:spcAft>
                <a:spcPts val="100"/>
              </a:spcAft>
              <a:defRPr sz="1050" b="1">
                <a:solidFill>
                  <a:srgbClr val="38BDF8"/>
                </a:solidFill>
              </a:defRPr>
            </a:pPr>
            <a:r>
              <a:t>Score Interpretation:</a:t>
            </a:r>
          </a:p>
          <a:p>
            <a:pPr>
              <a:spcAft>
                <a:spcPts val="300"/>
              </a:spcAft>
              <a:defRPr sz="950">
                <a:solidFill>
                  <a:srgbClr val="F8FAFC"/>
                </a:solidFill>
              </a:defRPr>
            </a:pPr>
            <a:r>
              <a:t>  Confidence reflects model certainty, not statistical probability</a:t>
            </a:r>
          </a:p>
          <a:p>
            <a:pPr>
              <a:spcAft>
                <a:spcPts val="100"/>
              </a:spcAft>
              <a:defRPr sz="1050" b="1">
                <a:solidFill>
                  <a:srgbClr val="38BDF8"/>
                </a:solidFill>
              </a:defRPr>
            </a:pPr>
            <a:r>
              <a:t>Temporal Filter Integration:</a:t>
            </a:r>
          </a:p>
          <a:p>
            <a:pPr>
              <a:spcAft>
                <a:spcPts val="300"/>
              </a:spcAft>
              <a:defRPr sz="950">
                <a:solidFill>
                  <a:srgbClr val="F8FAFC"/>
                </a:solidFill>
              </a:defRPr>
            </a:pPr>
            <a:r>
              <a:t>  Feeds into 3-frame confirmation engine before saving</a:t>
            </a:r>
          </a:p>
          <a:p>
            <a:pPr>
              <a:spcAft>
                <a:spcPts val="100"/>
              </a:spcAft>
              <a:defRPr sz="1050" b="1">
                <a:solidFill>
                  <a:srgbClr val="38BDF8"/>
                </a:solidFill>
              </a:defRPr>
            </a:pPr>
            <a:r>
              <a:t>Hardware Footprint:</a:t>
            </a:r>
          </a:p>
          <a:p>
            <a:pPr>
              <a:spcAft>
                <a:spcPts val="300"/>
              </a:spcAft>
              <a:defRPr sz="950">
                <a:solidFill>
                  <a:srgbClr val="F8FAFC"/>
                </a:solidFill>
              </a:defRPr>
            </a:pPr>
            <a:r>
              <a:t>  Lightweight YOLOv8 Nano architecture (&lt; 6 MB weights)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FEATURE 4 — ARMED THREAT DEFENSE</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Weapon Detection: Gun &amp; Knife Identification</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Computer vision defense model trained for lethal firearm and edged weapon spotting</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Armed Threat Neural Engine</a:t>
            </a:r>
          </a:p>
          <a:p>
            <a:pPr>
              <a:spcAft>
                <a:spcPts val="200"/>
              </a:spcAft>
              <a:defRPr sz="1100" b="1">
                <a:solidFill>
                  <a:srgbClr val="F8FAFC"/>
                </a:solidFill>
              </a:defRPr>
            </a:pPr>
            <a:r>
              <a:t>Specialized Repository:</a:t>
            </a:r>
          </a:p>
          <a:p>
            <a:pPr>
              <a:spcAft>
                <a:spcPts val="600"/>
              </a:spcAft>
              <a:defRPr sz="1000" b="0">
                <a:solidFill>
                  <a:srgbClr val="94A3B8"/>
                </a:solidFill>
              </a:defRPr>
            </a:pPr>
            <a:r>
              <a:t>Pretrained model fetched from Hugging Face Hub:</a:t>
            </a:r>
            <a:br/>
            <a:r>
              <a:t>  Repository: cosgun99/gun-knife-yolo11n</a:t>
            </a:r>
            <a:br/>
            <a:r>
              <a:t>  Loaded into memory via Ultralytics YOLO(best.pt)</a:t>
            </a:r>
          </a:p>
          <a:p>
            <a:pPr>
              <a:spcAft>
                <a:spcPts val="200"/>
              </a:spcAft>
              <a:defRPr sz="1100" b="1">
                <a:solidFill>
                  <a:srgbClr val="F8FAFC"/>
                </a:solidFill>
              </a:defRPr>
            </a:pPr>
            <a:r>
              <a:t>Target Weapon Classes:</a:t>
            </a:r>
          </a:p>
          <a:p>
            <a:pPr>
              <a:spcAft>
                <a:spcPts val="600"/>
              </a:spcAft>
              <a:defRPr sz="1000" b="0">
                <a:solidFill>
                  <a:srgbClr val="94A3B8"/>
                </a:solidFill>
              </a:defRPr>
            </a:pPr>
            <a:r>
              <a:t>Model detects two high-severity lethal categories:</a:t>
            </a:r>
            <a:br/>
            <a:r>
              <a:t>• 'gun' -&gt; mapped to WEAPON_GUN</a:t>
            </a:r>
            <a:br/>
            <a:r>
              <a:t>• 'knife' -&gt; mapped to WEAPON_KNIFE</a:t>
            </a:r>
          </a:p>
          <a:p>
            <a:pPr>
              <a:spcAft>
                <a:spcPts val="200"/>
              </a:spcAft>
              <a:defRPr sz="1100" b="1">
                <a:solidFill>
                  <a:srgbClr val="F8FAFC"/>
                </a:solidFill>
              </a:defRPr>
            </a:pPr>
            <a:r>
              <a:t>High-Visibility Visual Highlighting:</a:t>
            </a:r>
          </a:p>
          <a:p>
            <a:pPr>
              <a:spcAft>
                <a:spcPts val="600"/>
              </a:spcAft>
              <a:defRPr sz="1000" b="0">
                <a:solidFill>
                  <a:srgbClr val="94A3B8"/>
                </a:solidFill>
              </a:defRPr>
            </a:pPr>
            <a:r>
              <a:t>Annotates live video with vivid orange bounding boxes and distinct text tags displaying the predicted class and confidence score.</a:t>
            </a:r>
          </a:p>
          <a:p>
            <a:pPr>
              <a:spcAft>
                <a:spcPts val="200"/>
              </a:spcAft>
              <a:defRPr sz="1100" b="1">
                <a:solidFill>
                  <a:srgbClr val="F8FAFC"/>
                </a:solidFill>
              </a:defRPr>
            </a:pPr>
            <a:r>
              <a:t>Critical Security Safeguard:</a:t>
            </a:r>
          </a:p>
          <a:p>
            <a:pPr>
              <a:spcAft>
                <a:spcPts val="600"/>
              </a:spcAft>
              <a:defRPr sz="1000" b="0">
                <a:solidFill>
                  <a:srgbClr val="94A3B8"/>
                </a:solidFill>
              </a:defRPr>
            </a:pPr>
            <a:r>
              <a:t>Handheld objects often cause false positives (e.g., cell phones or pens). Our multi-frame confirmation engine ensures transient detections are verified before alarming.</a:t>
            </a:r>
          </a:p>
        </p:txBody>
      </p:sp>
      <p:sp>
        <p:nvSpPr>
          <p:cNvPr id="9" name="Rounded Rectangle 8"/>
          <p:cNvSpPr/>
          <p:nvPr/>
        </p:nvSpPr>
        <p:spPr>
          <a:xfrm>
            <a:off x="62179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Weapon Model Technical Settings</a:t>
            </a:r>
          </a:p>
          <a:p>
            <a:pPr>
              <a:spcAft>
                <a:spcPts val="100"/>
              </a:spcAft>
              <a:defRPr sz="1050" b="1">
                <a:solidFill>
                  <a:srgbClr val="38BDF8"/>
                </a:solidFill>
              </a:defRPr>
            </a:pPr>
            <a:r>
              <a:t>Model Architecture:</a:t>
            </a:r>
          </a:p>
          <a:p>
            <a:pPr>
              <a:spcAft>
                <a:spcPts val="300"/>
              </a:spcAft>
              <a:defRPr sz="950">
                <a:solidFill>
                  <a:srgbClr val="F8FAFC"/>
                </a:solidFill>
              </a:defRPr>
            </a:pPr>
            <a:r>
              <a:t>  YOLO11n (Nano Vision Transformer / Conv backbone)</a:t>
            </a:r>
          </a:p>
          <a:p>
            <a:pPr>
              <a:spcAft>
                <a:spcPts val="100"/>
              </a:spcAft>
              <a:defRPr sz="1050" b="1">
                <a:solidFill>
                  <a:srgbClr val="38BDF8"/>
                </a:solidFill>
              </a:defRPr>
            </a:pPr>
            <a:r>
              <a:t>Hugging Face Source:</a:t>
            </a:r>
          </a:p>
          <a:p>
            <a:pPr>
              <a:spcAft>
                <a:spcPts val="300"/>
              </a:spcAft>
              <a:defRPr sz="950">
                <a:solidFill>
                  <a:srgbClr val="F8FAFC"/>
                </a:solidFill>
              </a:defRPr>
            </a:pPr>
            <a:r>
              <a:t>  cosgun99/gun-knife-yolo11n</a:t>
            </a:r>
          </a:p>
          <a:p>
            <a:pPr>
              <a:spcAft>
                <a:spcPts val="100"/>
              </a:spcAft>
              <a:defRPr sz="1050" b="1">
                <a:solidFill>
                  <a:srgbClr val="38BDF8"/>
                </a:solidFill>
              </a:defRPr>
            </a:pPr>
            <a:r>
              <a:t>Confidence Cutoff:</a:t>
            </a:r>
          </a:p>
          <a:p>
            <a:pPr>
              <a:spcAft>
                <a:spcPts val="300"/>
              </a:spcAft>
              <a:defRPr sz="950">
                <a:solidFill>
                  <a:srgbClr val="F8FAFC"/>
                </a:solidFill>
              </a:defRPr>
            </a:pPr>
            <a:r>
              <a:t>  0.40 (Tuned to suppress benign object false alarms)</a:t>
            </a:r>
          </a:p>
          <a:p>
            <a:pPr>
              <a:spcAft>
                <a:spcPts val="100"/>
              </a:spcAft>
              <a:defRPr sz="1050" b="1">
                <a:solidFill>
                  <a:srgbClr val="38BDF8"/>
                </a:solidFill>
              </a:defRPr>
            </a:pPr>
            <a:r>
              <a:t>IoU Threshold:</a:t>
            </a:r>
          </a:p>
          <a:p>
            <a:pPr>
              <a:spcAft>
                <a:spcPts val="300"/>
              </a:spcAft>
              <a:defRPr sz="950">
                <a:solidFill>
                  <a:srgbClr val="F8FAFC"/>
                </a:solidFill>
              </a:defRPr>
            </a:pPr>
            <a:r>
              <a:t>  0.45</a:t>
            </a:r>
          </a:p>
          <a:p>
            <a:pPr>
              <a:spcAft>
                <a:spcPts val="100"/>
              </a:spcAft>
              <a:defRPr sz="1050" b="1">
                <a:solidFill>
                  <a:srgbClr val="38BDF8"/>
                </a:solidFill>
              </a:defRPr>
            </a:pPr>
            <a:r>
              <a:t>Event Name Mapping:</a:t>
            </a:r>
          </a:p>
          <a:p>
            <a:pPr>
              <a:spcAft>
                <a:spcPts val="300"/>
              </a:spcAft>
              <a:defRPr sz="950">
                <a:solidFill>
                  <a:srgbClr val="F8FAFC"/>
                </a:solidFill>
              </a:defRPr>
            </a:pPr>
            <a:r>
              <a:t>  WEAPON_GUN and WEAPON_KNIFE</a:t>
            </a:r>
          </a:p>
          <a:p>
            <a:pPr>
              <a:spcAft>
                <a:spcPts val="100"/>
              </a:spcAft>
              <a:defRPr sz="1050" b="1">
                <a:solidFill>
                  <a:srgbClr val="38BDF8"/>
                </a:solidFill>
              </a:defRPr>
            </a:pPr>
            <a:r>
              <a:t>Evidence Logging:</a:t>
            </a:r>
          </a:p>
          <a:p>
            <a:pPr>
              <a:spcAft>
                <a:spcPts val="300"/>
              </a:spcAft>
              <a:defRPr sz="950">
                <a:solidFill>
                  <a:srgbClr val="F8FAFC"/>
                </a:solidFill>
              </a:defRPr>
            </a:pPr>
            <a:r>
              <a:t>  Captures weapon bounding box directly into saved JPEG</a:t>
            </a:r>
          </a:p>
          <a:p>
            <a:pPr>
              <a:spcAft>
                <a:spcPts val="100"/>
              </a:spcAft>
              <a:defRPr sz="1050" b="1">
                <a:solidFill>
                  <a:srgbClr val="38BDF8"/>
                </a:solidFill>
              </a:defRPr>
            </a:pPr>
            <a:r>
              <a:t>Email Dispatch:</a:t>
            </a:r>
          </a:p>
          <a:p>
            <a:pPr>
              <a:spcAft>
                <a:spcPts val="300"/>
              </a:spcAft>
              <a:defRPr sz="950">
                <a:solidFill>
                  <a:srgbClr val="F8FAFC"/>
                </a:solidFill>
              </a:defRPr>
            </a:pPr>
            <a:r>
              <a:t>  Triggers high-priority security alert with screenshot attachment</a:t>
            </a:r>
          </a:p>
          <a:p>
            <a:pPr>
              <a:spcAft>
                <a:spcPts val="100"/>
              </a:spcAft>
              <a:defRPr sz="1050" b="1">
                <a:solidFill>
                  <a:srgbClr val="38BDF8"/>
                </a:solidFill>
              </a:defRPr>
            </a:pPr>
            <a:r>
              <a:t>Operational Note:</a:t>
            </a:r>
          </a:p>
          <a:p>
            <a:pPr>
              <a:spcAft>
                <a:spcPts val="300"/>
              </a:spcAft>
              <a:defRPr sz="950">
                <a:solidFill>
                  <a:srgbClr val="F8FAFC"/>
                </a:solidFill>
              </a:defRPr>
            </a:pPr>
            <a:r>
              <a:t>  Verified successfully in console output during test trials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FEATURE 5 — ANTI-FLICKER INTELLIGENCE</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Event Confirmation &amp; Cooldown State Machine</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Robust temporal smoothing algorithms eliminating false positives and preventing notification spam</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212080"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Temporal Confirmation Logic</a:t>
            </a:r>
          </a:p>
          <a:p>
            <a:pPr>
              <a:spcAft>
                <a:spcPts val="200"/>
              </a:spcAft>
              <a:defRPr sz="1050">
                <a:solidFill>
                  <a:srgbClr val="94A3B8"/>
                </a:solidFill>
              </a:defRPr>
            </a:pPr>
            <a:r>
              <a:t>• REQUIRED_FRAMES = 3: Event must persist for 3 consecutive frames to confirm.</a:t>
            </a:r>
          </a:p>
          <a:p>
            <a:pPr>
              <a:spcAft>
                <a:spcPts val="200"/>
              </a:spcAft>
              <a:defRPr sz="1050">
                <a:solidFill>
                  <a:srgbClr val="94A3B8"/>
                </a:solidFill>
              </a:defRPr>
            </a:pPr>
            <a:r>
              <a:t>• Eliminates single-frame detection flickers and momentary sensor noise.</a:t>
            </a:r>
          </a:p>
          <a:p>
            <a:pPr>
              <a:spcAft>
                <a:spcPts val="200"/>
              </a:spcAft>
              <a:defRPr sz="1050">
                <a:solidFill>
                  <a:srgbClr val="94A3B8"/>
                </a:solidFill>
              </a:defRPr>
            </a:pPr>
            <a:r>
              <a:t>• CLEAR_FRAMES = 10: Event must be absent for 10 frames before clearing active state.</a:t>
            </a:r>
          </a:p>
          <a:p>
            <a:pPr>
              <a:spcAft>
                <a:spcPts val="200"/>
              </a:spcAft>
              <a:defRPr sz="1050">
                <a:solidFill>
                  <a:srgbClr val="94A3B8"/>
                </a:solidFill>
              </a:defRPr>
            </a:pPr>
            <a:r>
              <a:t>• Prevents state flapping when an object is momentarily obstructed.</a:t>
            </a:r>
          </a:p>
        </p:txBody>
      </p:sp>
      <p:sp>
        <p:nvSpPr>
          <p:cNvPr id="9" name="Rounded Rectangle 8"/>
          <p:cNvSpPr/>
          <p:nvPr/>
        </p:nvSpPr>
        <p:spPr>
          <a:xfrm>
            <a:off x="6217920" y="1737360"/>
            <a:ext cx="5212080"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Granular Cooldown Architecture</a:t>
            </a:r>
          </a:p>
          <a:p>
            <a:pPr>
              <a:spcAft>
                <a:spcPts val="200"/>
              </a:spcAft>
              <a:defRPr sz="1050">
                <a:solidFill>
                  <a:srgbClr val="94A3B8"/>
                </a:solidFill>
              </a:defRPr>
            </a:pPr>
            <a:r>
              <a:t>• EVENT_COOLDOWN_SECONDS = 30: 30-second suppression window.</a:t>
            </a:r>
          </a:p>
          <a:p>
            <a:pPr>
              <a:spcAft>
                <a:spcPts val="200"/>
              </a:spcAft>
              <a:defRPr sz="1050">
                <a:solidFill>
                  <a:srgbClr val="94A3B8"/>
                </a:solidFill>
              </a:defRPr>
            </a:pPr>
            <a:r>
              <a:t>• Cooldown is decoupled per event type (Intrusion != Fire != Weapon).</a:t>
            </a:r>
          </a:p>
          <a:p>
            <a:pPr>
              <a:spcAft>
                <a:spcPts val="200"/>
              </a:spcAft>
              <a:defRPr sz="1050">
                <a:solidFill>
                  <a:srgbClr val="94A3B8"/>
                </a:solidFill>
              </a:defRPr>
            </a:pPr>
            <a:r>
              <a:t>• An active Fire alert will never suppress an incoming Weapon alert.</a:t>
            </a:r>
          </a:p>
          <a:p>
            <a:pPr>
              <a:spcAft>
                <a:spcPts val="200"/>
              </a:spcAft>
              <a:defRPr sz="1050">
                <a:solidFill>
                  <a:srgbClr val="94A3B8"/>
                </a:solidFill>
              </a:defRPr>
            </a:pPr>
            <a:r>
              <a:t>• Drastically mitigates notification storming and inbox saturation.</a:t>
            </a:r>
          </a:p>
        </p:txBody>
      </p:sp>
      <p:sp>
        <p:nvSpPr>
          <p:cNvPr id="10" name="Rounded Rectangle 9"/>
          <p:cNvSpPr/>
          <p:nvPr/>
        </p:nvSpPr>
        <p:spPr>
          <a:xfrm>
            <a:off x="731520" y="4114800"/>
            <a:ext cx="10728655"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Core State Data Structures (live_tracking.py)</a:t>
            </a:r>
          </a:p>
          <a:p>
            <a:pPr>
              <a:defRPr sz="1050" b="1">
                <a:solidFill>
                  <a:srgbClr val="38BDF8"/>
                </a:solidFill>
              </a:defRPr>
            </a:pPr>
            <a:r>
              <a:t>event_counts = {}: </a:t>
            </a:r>
          </a:p>
          <a:p>
            <a:pPr>
              <a:spcAft>
                <a:spcPts val="200"/>
              </a:spcAft>
              <a:defRPr sz="1000">
                <a:solidFill>
                  <a:srgbClr val="94A3B8"/>
                </a:solidFill>
              </a:defRPr>
            </a:pPr>
            <a:r>
              <a:t>    Tracks consecutive frames where event is present. Increments on detection, resets to 0 on absence.</a:t>
            </a:r>
          </a:p>
          <a:p>
            <a:pPr>
              <a:defRPr sz="1050" b="1">
                <a:solidFill>
                  <a:srgbClr val="38BDF8"/>
                </a:solidFill>
              </a:defRPr>
            </a:pPr>
            <a:r>
              <a:t>missing_counts = {}: </a:t>
            </a:r>
          </a:p>
          <a:p>
            <a:pPr>
              <a:spcAft>
                <a:spcPts val="200"/>
              </a:spcAft>
              <a:defRPr sz="1000">
                <a:solidFill>
                  <a:srgbClr val="94A3B8"/>
                </a:solidFill>
              </a:defRPr>
            </a:pPr>
            <a:r>
              <a:t>    Tracks consecutive frames where event is missing. Increments on absence, resets to 0 on detection.</a:t>
            </a:r>
          </a:p>
          <a:p>
            <a:pPr>
              <a:defRPr sz="1050" b="1">
                <a:solidFill>
                  <a:srgbClr val="38BDF8"/>
                </a:solidFill>
              </a:defRPr>
            </a:pPr>
            <a:r>
              <a:t>active_events = set(): </a:t>
            </a:r>
          </a:p>
          <a:p>
            <a:pPr>
              <a:spcAft>
                <a:spcPts val="200"/>
              </a:spcAft>
              <a:defRPr sz="1000">
                <a:solidFill>
                  <a:srgbClr val="94A3B8"/>
                </a:solidFill>
              </a:defRPr>
            </a:pPr>
            <a:r>
              <a:t>    Tracks confirmed events currently active. Prevents duplicate saves while event remains un-cleared.</a:t>
            </a:r>
          </a:p>
          <a:p>
            <a:pPr>
              <a:defRPr sz="1050" b="1">
                <a:solidFill>
                  <a:srgbClr val="38BDF8"/>
                </a:solidFill>
              </a:defRPr>
            </a:pPr>
            <a:r>
              <a:t>last_event_alert_time = {}: </a:t>
            </a:r>
          </a:p>
          <a:p>
            <a:pPr>
              <a:spcAft>
                <a:spcPts val="200"/>
              </a:spcAft>
              <a:defRPr sz="1000">
                <a:solidFill>
                  <a:srgbClr val="94A3B8"/>
                </a:solidFill>
              </a:defRPr>
            </a:pPr>
            <a:r>
              <a:t>    Records timestamp of last saved alert per event type to enforce 30-second cooldown period.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FEATURE 6 — FORENSIC INTEGRITY</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Screenshot Evidence &amp; SQLite Database Architecture</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Tamper-evident photographic preservation and structured relational incident logging</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Screenshot Evidence System</a:t>
            </a:r>
          </a:p>
          <a:p>
            <a:pPr>
              <a:spcAft>
                <a:spcPts val="200"/>
              </a:spcAft>
              <a:defRPr sz="1100" b="1">
                <a:solidFill>
                  <a:srgbClr val="F8FAFC"/>
                </a:solidFill>
              </a:defRPr>
            </a:pPr>
            <a:r>
              <a:t>Evidence Storage Directory:</a:t>
            </a:r>
          </a:p>
          <a:p>
            <a:pPr>
              <a:spcAft>
                <a:spcPts val="600"/>
              </a:spcAft>
              <a:defRPr sz="1000" b="0">
                <a:solidFill>
                  <a:srgbClr val="94A3B8"/>
                </a:solidFill>
              </a:defRPr>
            </a:pPr>
            <a:r>
              <a:t>All visual proof is stored under the project's alerts/ directory.</a:t>
            </a:r>
          </a:p>
          <a:p>
            <a:pPr>
              <a:spcAft>
                <a:spcPts val="200"/>
              </a:spcAft>
              <a:defRPr sz="1100" b="1">
                <a:solidFill>
                  <a:srgbClr val="F8FAFC"/>
                </a:solidFill>
              </a:defRPr>
            </a:pPr>
            <a:r>
              <a:t>Microsecond Timestamp Precision:</a:t>
            </a:r>
          </a:p>
          <a:p>
            <a:pPr>
              <a:spcAft>
                <a:spcPts val="600"/>
              </a:spcAft>
              <a:defRPr sz="1000" b="0">
                <a:solidFill>
                  <a:srgbClr val="94A3B8"/>
                </a:solidFill>
              </a:defRPr>
            </a:pPr>
            <a:r>
              <a:t>Files are formatted to prevent overwrites even during rapid burst events:</a:t>
            </a:r>
            <a:br/>
            <a:r>
              <a:t>  alerts/{event}_{YYYYMMDD}_{HHMMSS}_{micros}.jpg</a:t>
            </a:r>
            <a:br/>
            <a:r>
              <a:t>Example from live run:</a:t>
            </a:r>
            <a:br/>
            <a:r>
              <a:t>  alerts/weapon_knife_20261023_202650_919434.jpg</a:t>
            </a:r>
          </a:p>
          <a:p>
            <a:pPr>
              <a:spcAft>
                <a:spcPts val="200"/>
              </a:spcAft>
              <a:defRPr sz="1100" b="1">
                <a:solidFill>
                  <a:srgbClr val="F8FAFC"/>
                </a:solidFill>
              </a:defRPr>
            </a:pPr>
            <a:r>
              <a:t>Annotated Visual Proof:</a:t>
            </a:r>
          </a:p>
          <a:p>
            <a:pPr>
              <a:spcAft>
                <a:spcPts val="600"/>
              </a:spcAft>
              <a:defRPr sz="1000" b="0">
                <a:solidFill>
                  <a:srgbClr val="94A3B8"/>
                </a:solidFill>
              </a:defRPr>
            </a:pPr>
            <a:r>
              <a:t>The frame passed to save_event() is the fully annotated frame containing bounding boxes, confidence scores, and zone overlays, providing undeniable forensic clarity.</a:t>
            </a:r>
          </a:p>
          <a:p>
            <a:pPr>
              <a:spcAft>
                <a:spcPts val="200"/>
              </a:spcAft>
              <a:defRPr sz="1100" b="1">
                <a:solidFill>
                  <a:srgbClr val="F8FAFC"/>
                </a:solidFill>
              </a:defRPr>
            </a:pPr>
            <a:r>
              <a:t>Atomic Write Handling:</a:t>
            </a:r>
          </a:p>
          <a:p>
            <a:pPr>
              <a:spcAft>
                <a:spcPts val="600"/>
              </a:spcAft>
              <a:defRPr sz="1000" b="0">
                <a:solidFill>
                  <a:srgbClr val="94A3B8"/>
                </a:solidFill>
              </a:defRPr>
            </a:pPr>
            <a:r>
              <a:t>cv2.imwrite() verifies successful disk write before committing to database.</a:t>
            </a:r>
          </a:p>
        </p:txBody>
      </p:sp>
      <p:sp>
        <p:nvSpPr>
          <p:cNvPr id="9" name="Rounded Rectangle 8"/>
          <p:cNvSpPr/>
          <p:nvPr/>
        </p:nvSpPr>
        <p:spPr>
          <a:xfrm>
            <a:off x="62179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SQLite Database Schema (security.db)</a:t>
            </a:r>
          </a:p>
          <a:p>
            <a:pPr>
              <a:spcAft>
                <a:spcPts val="200"/>
              </a:spcAft>
              <a:defRPr sz="1100" b="1">
                <a:solidFill>
                  <a:srgbClr val="F8FAFC"/>
                </a:solidFill>
              </a:defRPr>
            </a:pPr>
            <a:r>
              <a:t>Database Engine:</a:t>
            </a:r>
          </a:p>
          <a:p>
            <a:pPr>
              <a:spcAft>
                <a:spcPts val="600"/>
              </a:spcAft>
              <a:defRPr sz="1000" b="0">
                <a:solidFill>
                  <a:srgbClr val="94A3B8"/>
                </a:solidFill>
              </a:defRPr>
            </a:pPr>
            <a:r>
              <a:t>SQLite 3 embedded database via src/database_manager.py.</a:t>
            </a:r>
            <a:br/>
            <a:r>
              <a:t>Zero configuration, serverless, single-file storage (security.db).</a:t>
            </a:r>
          </a:p>
          <a:p>
            <a:pPr>
              <a:spcAft>
                <a:spcPts val="200"/>
              </a:spcAft>
              <a:defRPr sz="1100" b="1">
                <a:solidFill>
                  <a:srgbClr val="F8FAFC"/>
                </a:solidFill>
              </a:defRPr>
            </a:pPr>
            <a:r>
              <a:t>Schema Architecture:</a:t>
            </a:r>
          </a:p>
          <a:p>
            <a:pPr>
              <a:spcAft>
                <a:spcPts val="600"/>
              </a:spcAft>
              <a:defRPr sz="1000" b="0">
                <a:solidFill>
                  <a:srgbClr val="94A3B8"/>
                </a:solidFill>
              </a:defRPr>
            </a:pPr>
            <a:r>
              <a:t>• id: INTEGER PRIMARY KEY AUTOINCREMENT</a:t>
            </a:r>
            <a:br/>
            <a:r>
              <a:t>• event_type: TEXT (e.g., INTRUSION, WEAPON_KNIFE)</a:t>
            </a:r>
            <a:br/>
            <a:r>
              <a:t>• tracking_id: INTEGER or NULL (ByteTrack ID)</a:t>
            </a:r>
            <a:br/>
            <a:r>
              <a:t>• timestamp: DATETIME (ISO 8601 creation time)</a:t>
            </a:r>
            <a:br/>
            <a:r>
              <a:t>• image_path: TEXT (Relative path to JPEG evidence)</a:t>
            </a:r>
          </a:p>
          <a:p>
            <a:pPr>
              <a:spcAft>
                <a:spcPts val="200"/>
              </a:spcAft>
              <a:defRPr sz="1100" b="1">
                <a:solidFill>
                  <a:srgbClr val="F8FAFC"/>
                </a:solidFill>
              </a:defRPr>
            </a:pPr>
            <a:r>
              <a:t>Forensic Review Utility (view_alerts.py):</a:t>
            </a:r>
          </a:p>
          <a:p>
            <a:pPr>
              <a:spcAft>
                <a:spcPts val="600"/>
              </a:spcAft>
              <a:defRPr sz="1000" b="0">
                <a:solidFill>
                  <a:srgbClr val="94A3B8"/>
                </a:solidFill>
              </a:defRPr>
            </a:pPr>
            <a:r>
              <a:t>Dedicated script allowing security officers to query historical records, sort by timestamp, and verify incidents without opening raw database tools.</a:t>
            </a:r>
          </a:p>
          <a:p>
            <a:pPr>
              <a:spcAft>
                <a:spcPts val="200"/>
              </a:spcAft>
              <a:defRPr sz="1100" b="1">
                <a:solidFill>
                  <a:srgbClr val="F8FAFC"/>
                </a:solidFill>
              </a:defRPr>
            </a:pPr>
            <a:r>
              <a:t>Why SQLite for Edge AI?</a:t>
            </a:r>
          </a:p>
          <a:p>
            <a:pPr>
              <a:spcAft>
                <a:spcPts val="600"/>
              </a:spcAft>
              <a:defRPr sz="1000" b="0">
                <a:solidFill>
                  <a:srgbClr val="94A3B8"/>
                </a:solidFill>
              </a:defRPr>
            </a:pPr>
            <a:r>
              <a:t>Extremely lightweight, zero network overhead, immune to external server connection drops, and perfect for standalone security appliances.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FEATURE 7 — REMOTE DISPATCH</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Automated Gmail SMTP Email Notification System</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Secure, authenticated cloud notification with MIME multipart attachment delivery</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Gmail SMTP Transmission Protocol</a:t>
            </a:r>
          </a:p>
          <a:p>
            <a:pPr>
              <a:spcAft>
                <a:spcPts val="200"/>
              </a:spcAft>
              <a:defRPr sz="1100" b="1">
                <a:solidFill>
                  <a:srgbClr val="F8FAFC"/>
                </a:solidFill>
              </a:defRPr>
            </a:pPr>
            <a:r>
              <a:t>Module Implementation:</a:t>
            </a:r>
          </a:p>
          <a:p>
            <a:pPr>
              <a:spcAft>
                <a:spcPts val="600"/>
              </a:spcAft>
              <a:defRPr sz="1000" b="0">
                <a:solidFill>
                  <a:srgbClr val="94A3B8"/>
                </a:solidFill>
              </a:defRPr>
            </a:pPr>
            <a:r>
              <a:t>Encapsulated cleanly inside src/email_alert.py with the primary entry point:</a:t>
            </a:r>
            <a:br/>
            <a:r>
              <a:t>  send_alert_email(event_type, tracking_id, image_path)</a:t>
            </a:r>
          </a:p>
          <a:p>
            <a:pPr>
              <a:spcAft>
                <a:spcPts val="200"/>
              </a:spcAft>
              <a:defRPr sz="1100" b="1">
                <a:solidFill>
                  <a:srgbClr val="F8FAFC"/>
                </a:solidFill>
              </a:defRPr>
            </a:pPr>
            <a:r>
              <a:t>Transport Security &amp; Port:</a:t>
            </a:r>
          </a:p>
          <a:p>
            <a:pPr>
              <a:spcAft>
                <a:spcPts val="600"/>
              </a:spcAft>
              <a:defRPr sz="1000" b="0">
                <a:solidFill>
                  <a:srgbClr val="94A3B8"/>
                </a:solidFill>
              </a:defRPr>
            </a:pPr>
            <a:r>
              <a:t>• Server: smtp.gmail.com</a:t>
            </a:r>
            <a:br/>
            <a:r>
              <a:t>• Port: 587</a:t>
            </a:r>
            <a:br/>
            <a:r>
              <a:t>• Protocol: STARTTLS encryption</a:t>
            </a:r>
            <a:br/>
            <a:r>
              <a:t>• Establishes a TLS-encrypted handshake before transmitting credentials.</a:t>
            </a:r>
          </a:p>
          <a:p>
            <a:pPr>
              <a:spcAft>
                <a:spcPts val="200"/>
              </a:spcAft>
              <a:defRPr sz="1100" b="1">
                <a:solidFill>
                  <a:srgbClr val="F8FAFC"/>
                </a:solidFill>
              </a:defRPr>
            </a:pPr>
            <a:r>
              <a:t>Credential Protection via .env:</a:t>
            </a:r>
          </a:p>
          <a:p>
            <a:pPr>
              <a:spcAft>
                <a:spcPts val="600"/>
              </a:spcAft>
              <a:defRPr sz="1000" b="0">
                <a:solidFill>
                  <a:srgbClr val="94A3B8"/>
                </a:solidFill>
              </a:defRPr>
            </a:pPr>
            <a:r>
              <a:t>Uses python-dotenv to load SENDER_EMAIL, RECEIVER_EMAIL, and GMAIL_APP_PASSWORD from root .env.</a:t>
            </a:r>
            <a:br/>
            <a:r>
              <a:t>• Prevents accidental credential leakage into Git repositories.</a:t>
            </a:r>
          </a:p>
          <a:p>
            <a:pPr>
              <a:spcAft>
                <a:spcPts val="200"/>
              </a:spcAft>
              <a:defRPr sz="1100" b="1">
                <a:solidFill>
                  <a:srgbClr val="F8FAFC"/>
                </a:solidFill>
              </a:defRPr>
            </a:pPr>
            <a:r>
              <a:t>Verified SMTP 250 OK Response:</a:t>
            </a:r>
          </a:p>
          <a:p>
            <a:pPr>
              <a:spcAft>
                <a:spcPts val="600"/>
              </a:spcAft>
              <a:defRPr sz="1000" b="0">
                <a:solidFill>
                  <a:srgbClr val="94A3B8"/>
                </a:solidFill>
              </a:defRPr>
            </a:pPr>
            <a:r>
              <a:t>System handshake and email delivery confirmed with Gmail's '250 2.0.0 OK' response code during live integration tests.</a:t>
            </a:r>
          </a:p>
        </p:txBody>
      </p:sp>
      <p:sp>
        <p:nvSpPr>
          <p:cNvPr id="9" name="Rounded Rectangle 8"/>
          <p:cNvSpPr/>
          <p:nvPr/>
        </p:nvSpPr>
        <p:spPr>
          <a:xfrm>
            <a:off x="62179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Email Payload &amp; Resilient Execution</a:t>
            </a:r>
          </a:p>
          <a:p>
            <a:pPr>
              <a:spcAft>
                <a:spcPts val="200"/>
              </a:spcAft>
              <a:defRPr sz="1100" b="1">
                <a:solidFill>
                  <a:srgbClr val="F8FAFC"/>
                </a:solidFill>
              </a:defRPr>
            </a:pPr>
            <a:r>
              <a:t>MIME Multipart Email Construction:</a:t>
            </a:r>
          </a:p>
          <a:p>
            <a:pPr>
              <a:spcAft>
                <a:spcPts val="600"/>
              </a:spcAft>
              <a:defRPr sz="1000" b="0">
                <a:solidFill>
                  <a:srgbClr val="94A3B8"/>
                </a:solidFill>
              </a:defRPr>
            </a:pPr>
            <a:r>
              <a:t>• Subject: [SECURITY ALERT] - {event_type} DETECTED!</a:t>
            </a:r>
            <a:br/>
            <a:r>
              <a:t>• Body: Detailed event synopsis including Track ID, Date, Time, and Facility Location.</a:t>
            </a:r>
            <a:br/>
            <a:r>
              <a:t>• Attachment: MIMEImage binary attachment containing the exact JPEG evidence screenshot.</a:t>
            </a:r>
          </a:p>
          <a:p>
            <a:pPr>
              <a:spcAft>
                <a:spcPts val="200"/>
              </a:spcAft>
              <a:defRPr sz="1100" b="1">
                <a:solidFill>
                  <a:srgbClr val="F8FAFC"/>
                </a:solidFill>
              </a:defRPr>
            </a:pPr>
            <a:r>
              <a:t>Graceful Degradation:</a:t>
            </a:r>
          </a:p>
          <a:p>
            <a:pPr>
              <a:spcAft>
                <a:spcPts val="600"/>
              </a:spcAft>
              <a:defRPr sz="1000" b="0">
                <a:solidFill>
                  <a:srgbClr val="94A3B8"/>
                </a:solidFill>
              </a:defRPr>
            </a:pPr>
            <a:r>
              <a:t>If image_path is missing or inaccessible, the email still dispatches text details rather than throwing an unhandled exception.</a:t>
            </a:r>
          </a:p>
          <a:p>
            <a:pPr>
              <a:spcAft>
                <a:spcPts val="200"/>
              </a:spcAft>
              <a:defRPr sz="1100" b="1">
                <a:solidFill>
                  <a:srgbClr val="F8FAFC"/>
                </a:solidFill>
              </a:defRPr>
            </a:pPr>
            <a:r>
              <a:t>Non-Blocking Failure Isolation:</a:t>
            </a:r>
          </a:p>
          <a:p>
            <a:pPr>
              <a:spcAft>
                <a:spcPts val="600"/>
              </a:spcAft>
              <a:defRPr sz="1000" b="0">
                <a:solidFill>
                  <a:srgbClr val="94A3B8"/>
                </a:solidFill>
              </a:defRPr>
            </a:pPr>
            <a:r>
              <a:t>save_event() executes the email dispatch after the screenshot and database write succeed.</a:t>
            </a:r>
            <a:br/>
            <a:r>
              <a:t>• If network connectivity drops or SMTP times out, the local database and screenshot remain 100% intact.</a:t>
            </a:r>
          </a:p>
          <a:p>
            <a:pPr>
              <a:spcAft>
                <a:spcPts val="200"/>
              </a:spcAft>
              <a:defRPr sz="1100" b="1">
                <a:solidFill>
                  <a:srgbClr val="F8FAFC"/>
                </a:solidFill>
              </a:defRPr>
            </a:pPr>
            <a:r>
              <a:t>Live Output Evidence:</a:t>
            </a:r>
          </a:p>
          <a:p>
            <a:pPr>
              <a:spcAft>
                <a:spcPts val="600"/>
              </a:spcAft>
              <a:defRPr sz="1000" b="0">
                <a:solidFill>
                  <a:srgbClr val="94A3B8"/>
                </a:solidFill>
              </a:defRPr>
            </a:pPr>
            <a:r>
              <a:t>Console logs confirm: 'EMAIL SENT: INTRUSION' and 'EMAIL SENT: WEAPON_KNIFE'.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CODEBASE &amp; STRUCTURE</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Implementation &amp; Project Directory Organization</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Modular file layout following professional software engineering and clean architecture principles</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47548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000" b="1">
                <a:solidFill>
                  <a:srgbClr val="34D399"/>
                </a:solidFill>
                <a:latin typeface="Consolas"/>
              </a:defRPr>
            </a:pPr>
            <a:r>
              <a:t>Intelligent_Video_Surveillance/</a:t>
            </a:r>
            <a:br/>
            <a:r>
              <a:t>├── alerts/                    # Saved evidence JPEG screenshots</a:t>
            </a:r>
            <a:br/>
            <a:r>
              <a:t>├── database/                  # SQLite database (security.db)</a:t>
            </a:r>
            <a:br/>
            <a:r>
              <a:t>├── models/                    # Model cache &amp; downloaded weights</a:t>
            </a:r>
            <a:br/>
            <a:r>
              <a:t>├── notebooks/                 # Experimental notebooks</a:t>
            </a:r>
            <a:br/>
            <a:r>
              <a:t>├── src/                       # Application source modules</a:t>
            </a:r>
            <a:br/>
            <a:r>
              <a:t>│   ├── live_tracking.py       # Main pipeline &amp; event logic</a:t>
            </a:r>
            <a:br/>
            <a:r>
              <a:t>│   ├── email_alert.py         # SMTP email dispatcher</a:t>
            </a:r>
            <a:br/>
            <a:r>
              <a:t>│   ├── database_manager.py    # SQLite CRUD functions</a:t>
            </a:r>
            <a:br/>
            <a:r>
              <a:t>│   ├── view_alerts.py         # Incident review utility</a:t>
            </a:r>
            <a:br/>
            <a:r>
              <a:t>│   ├── yolo11n.pt             # Local YOLO11n weights</a:t>
            </a:r>
            <a:br/>
            <a:r>
              <a:t>│   └── yolo11n-pose.pt        # Pose estimation weights</a:t>
            </a:r>
            <a:br/>
            <a:r>
              <a:t>├── .env                       # Protected email credentials</a:t>
            </a:r>
            <a:br/>
            <a:r>
              <a:t>├── venv/                      # Python 3.11 virtual environment</a:t>
            </a:r>
            <a:br/>
            <a:r>
              <a:t>└── videos/                    # Test footage resources</a:t>
            </a:r>
          </a:p>
        </p:txBody>
      </p:sp>
      <p:sp>
        <p:nvSpPr>
          <p:cNvPr id="9" name="Rounded Rectangle 8"/>
          <p:cNvSpPr/>
          <p:nvPr/>
        </p:nvSpPr>
        <p:spPr>
          <a:xfrm>
            <a:off x="5760720" y="1737360"/>
            <a:ext cx="56692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Module Roles &amp; Responsibilities</a:t>
            </a:r>
          </a:p>
          <a:p>
            <a:pPr>
              <a:spcAft>
                <a:spcPts val="200"/>
              </a:spcAft>
              <a:defRPr sz="1100" b="1">
                <a:solidFill>
                  <a:srgbClr val="F8FAFC"/>
                </a:solidFill>
              </a:defRPr>
            </a:pPr>
            <a:r>
              <a:t>src/live_tracking.py (Core Orchestrator):</a:t>
            </a:r>
          </a:p>
          <a:p>
            <a:pPr>
              <a:spcAft>
                <a:spcPts val="500"/>
              </a:spcAft>
              <a:defRPr sz="1000" b="0">
                <a:solidFill>
                  <a:srgbClr val="94A3B8"/>
                </a:solidFill>
              </a:defRPr>
            </a:pPr>
            <a:r>
              <a:t>Integrates OpenCV camera feed, instantiates models, computes centroid intrusion math, evaluates 3-frame confirmation, draws bounding boxes, and invokes save_event().</a:t>
            </a:r>
          </a:p>
          <a:p>
            <a:pPr>
              <a:spcAft>
                <a:spcPts val="200"/>
              </a:spcAft>
              <a:defRPr sz="1100" b="1">
                <a:solidFill>
                  <a:srgbClr val="F8FAFC"/>
                </a:solidFill>
              </a:defRPr>
            </a:pPr>
            <a:r>
              <a:t>src/email_alert.py (Notification Service):</a:t>
            </a:r>
          </a:p>
          <a:p>
            <a:pPr>
              <a:spcAft>
                <a:spcPts val="500"/>
              </a:spcAft>
              <a:defRPr sz="1000" b="0">
                <a:solidFill>
                  <a:srgbClr val="94A3B8"/>
                </a:solidFill>
              </a:defRPr>
            </a:pPr>
            <a:r>
              <a:t>Reads .env variables, establishes STARTTLS session with Gmail on port 587, attaches screenshot evidence, and handles network timeouts gracefully.</a:t>
            </a:r>
          </a:p>
          <a:p>
            <a:pPr>
              <a:spcAft>
                <a:spcPts val="200"/>
              </a:spcAft>
              <a:defRPr sz="1100" b="1">
                <a:solidFill>
                  <a:srgbClr val="F8FAFC"/>
                </a:solidFill>
              </a:defRPr>
            </a:pPr>
            <a:r>
              <a:t>src/database_manager.py (Data Access Layer):</a:t>
            </a:r>
          </a:p>
          <a:p>
            <a:pPr>
              <a:spcAft>
                <a:spcPts val="500"/>
              </a:spcAft>
              <a:defRPr sz="1000" b="0">
                <a:solidFill>
                  <a:srgbClr val="94A3B8"/>
                </a:solidFill>
              </a:defRPr>
            </a:pPr>
            <a:r>
              <a:t>Initializes SQLite database tables and executes parameterized INSERT queries for atomic alert storage.</a:t>
            </a:r>
          </a:p>
          <a:p>
            <a:pPr>
              <a:spcAft>
                <a:spcPts val="200"/>
              </a:spcAft>
              <a:defRPr sz="1100" b="1">
                <a:solidFill>
                  <a:srgbClr val="F8FAFC"/>
                </a:solidFill>
              </a:defRPr>
            </a:pPr>
            <a:r>
              <a:t>src/view_alerts.py (Administrative Utility):</a:t>
            </a:r>
          </a:p>
          <a:p>
            <a:pPr>
              <a:spcAft>
                <a:spcPts val="500"/>
              </a:spcAft>
              <a:defRPr sz="1000" b="0">
                <a:solidFill>
                  <a:srgbClr val="94A3B8"/>
                </a:solidFill>
              </a:defRPr>
            </a:pPr>
            <a:r>
              <a:t>Fetches all recorded incidents from security.db and presents a structured terminal summary for administrative auditing.</a:t>
            </a:r>
          </a:p>
          <a:p>
            <a:pPr>
              <a:spcAft>
                <a:spcPts val="200"/>
              </a:spcAft>
              <a:defRPr sz="1100" b="1">
                <a:solidFill>
                  <a:srgbClr val="F8FAFC"/>
                </a:solidFill>
              </a:defRPr>
            </a:pPr>
            <a:r>
              <a:t>.env (Configuration &amp; Security):</a:t>
            </a:r>
          </a:p>
          <a:p>
            <a:pPr>
              <a:spcAft>
                <a:spcPts val="500"/>
              </a:spcAft>
              <a:defRPr sz="1000" b="0">
                <a:solidFill>
                  <a:srgbClr val="94A3B8"/>
                </a:solidFill>
              </a:defRPr>
            </a:pPr>
            <a:r>
              <a:t>Keeps secrets out of version control, conforming to the 12-Factor App methodology.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EMPIRICAL VALIDATION</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Results &amp; Demonstration: Verified System Execution</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Live integration test outputs validating the complete detection-to-email pipeline</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48640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950" b="1">
                <a:solidFill>
                  <a:srgbClr val="38BDF8"/>
                </a:solidFill>
                <a:latin typeface="Consolas"/>
              </a:defRPr>
            </a:pPr>
            <a:r>
              <a:t>[SYSTEM START] Initializing AI Home Security Pipeline...</a:t>
            </a:r>
            <a:br/>
            <a:r>
              <a:t>[MODELS] Loading YOLO11n Person Tracker (bytetrack.yaml)...</a:t>
            </a:r>
            <a:br/>
            <a:r>
              <a:t>[MODELS] Loading rabahdev/fire-smoke-yolov8n from HuggingFace...</a:t>
            </a:r>
            <a:br/>
            <a:r>
              <a:t>[MODELS] Loading cosgun99/gun-knife-yolo11n from HuggingFace...</a:t>
            </a:r>
            <a:br/>
            <a:r>
              <a:t>[DATABASE] Connected to database/security.db (Table OK)</a:t>
            </a:r>
            <a:br/>
            <a:r>
              <a:t>[CAMERA] VideoCapture(0) opened @ 640x480</a:t>
            </a:r>
            <a:br/>
            <a:r>
              <a:t>----------------------------------------------------</a:t>
            </a:r>
            <a:br/>
            <a:r>
              <a:t>&gt;&gt; INTRUSION DETECTED: Track ID #1 @ (312, 280)</a:t>
            </a:r>
            <a:br/>
            <a:r>
              <a:t>&gt;&gt; EVIDENCE SAVED: alerts/intrusion_20261023_202410_112049.jpg</a:t>
            </a:r>
            <a:br/>
            <a:r>
              <a:t>&gt;&gt; DB LOGGED: Event ID #1 | INTRUSION | Track ID 1</a:t>
            </a:r>
            <a:br/>
            <a:r>
              <a:t>&gt;&gt; EMAIL SENT: INTRUSION -&gt; 250 2.0.0 OK (Gmail SMTP)</a:t>
            </a:r>
            <a:br/>
            <a:r>
              <a:t>----------------------------------------------------</a:t>
            </a:r>
            <a:br/>
            <a:r>
              <a:t>&gt;&gt; WEAPON DETECTED: knife (Conf: 0.78) -&gt; Confirmed 3 frames</a:t>
            </a:r>
            <a:br/>
            <a:r>
              <a:t>&gt;&gt; EVIDENCE SAVED: alerts/weapon_knife_20261023_202650_919434.jpg</a:t>
            </a:r>
            <a:br/>
            <a:r>
              <a:t>&gt;&gt; DB LOGGED: Event ID #2 | WEAPON_KNIFE | Track ID N/A</a:t>
            </a:r>
            <a:br/>
            <a:r>
              <a:t>&gt;&gt; EMAIL SENT: WEAPON_KNIFE -&gt; 250 2.0.0 OK (Gmail SMTP)</a:t>
            </a:r>
            <a:br/>
            <a:r>
              <a:t>----------------------------------------------------</a:t>
            </a:r>
            <a:br/>
            <a:r>
              <a:t>[COOLDOWN] 30s Cooldown Active for WEAPON_KNIFE (Suppressed spam)</a:t>
            </a:r>
          </a:p>
        </p:txBody>
      </p:sp>
      <p:sp>
        <p:nvSpPr>
          <p:cNvPr id="9" name="Rounded Rectangle 8"/>
          <p:cNvSpPr/>
          <p:nvPr/>
        </p:nvSpPr>
        <p:spPr>
          <a:xfrm>
            <a:off x="6492240" y="1737360"/>
            <a:ext cx="493776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Verified Functional Milestones</a:t>
            </a:r>
          </a:p>
          <a:p>
            <a:pPr>
              <a:spcAft>
                <a:spcPts val="100"/>
              </a:spcAft>
              <a:defRPr sz="1100" b="1">
                <a:solidFill>
                  <a:srgbClr val="34D399"/>
                </a:solidFill>
              </a:defRPr>
            </a:pPr>
            <a:r>
              <a:t>✔ Live Camera Ingestion:</a:t>
            </a:r>
          </a:p>
          <a:p>
            <a:pPr>
              <a:spcAft>
                <a:spcPts val="400"/>
              </a:spcAft>
              <a:defRPr sz="1000" b="0">
                <a:solidFill>
                  <a:srgbClr val="94A3B8"/>
                </a:solidFill>
              </a:defRPr>
            </a:pPr>
            <a:r>
              <a:t>Stable 30 FPS acquisition from webcam with zero pipeline crashes.</a:t>
            </a:r>
          </a:p>
          <a:p>
            <a:pPr>
              <a:spcAft>
                <a:spcPts val="100"/>
              </a:spcAft>
              <a:defRPr sz="1100" b="1">
                <a:solidFill>
                  <a:srgbClr val="34D399"/>
                </a:solidFill>
              </a:defRPr>
            </a:pPr>
            <a:r>
              <a:t>✔ ByteTrack ID Persistence:</a:t>
            </a:r>
          </a:p>
          <a:p>
            <a:pPr>
              <a:spcAft>
                <a:spcPts val="400"/>
              </a:spcAft>
              <a:defRPr sz="1000" b="0">
                <a:solidFill>
                  <a:srgbClr val="94A3B8"/>
                </a:solidFill>
              </a:defRPr>
            </a:pPr>
            <a:r>
              <a:t>Maintained unique person tracking IDs across movement and minor turns.</a:t>
            </a:r>
          </a:p>
          <a:p>
            <a:pPr>
              <a:spcAft>
                <a:spcPts val="100"/>
              </a:spcAft>
              <a:defRPr sz="1100" b="1">
                <a:solidFill>
                  <a:srgbClr val="34D399"/>
                </a:solidFill>
              </a:defRPr>
            </a:pPr>
            <a:r>
              <a:t>✔ Instant Intrusion Detection:</a:t>
            </a:r>
          </a:p>
          <a:p>
            <a:pPr>
              <a:spcAft>
                <a:spcPts val="400"/>
              </a:spcAft>
              <a:defRPr sz="1000" b="0">
                <a:solidFill>
                  <a:srgbClr val="94A3B8"/>
                </a:solidFill>
              </a:defRPr>
            </a:pPr>
            <a:r>
              <a:t>Triggered immediately upon centroid entering the (200,150)-(500,400) bounding box.</a:t>
            </a:r>
          </a:p>
          <a:p>
            <a:pPr>
              <a:spcAft>
                <a:spcPts val="100"/>
              </a:spcAft>
              <a:defRPr sz="1100" b="1">
                <a:solidFill>
                  <a:srgbClr val="34D399"/>
                </a:solidFill>
              </a:defRPr>
            </a:pPr>
            <a:r>
              <a:t>✔ False Positive Suppression:</a:t>
            </a:r>
          </a:p>
          <a:p>
            <a:pPr>
              <a:spcAft>
                <a:spcPts val="400"/>
              </a:spcAft>
              <a:defRPr sz="1000" b="0">
                <a:solidFill>
                  <a:srgbClr val="94A3B8"/>
                </a:solidFill>
              </a:defRPr>
            </a:pPr>
            <a:r>
              <a:t>3-frame confirmation successfully filtered out brief single-frame detection noise.</a:t>
            </a:r>
          </a:p>
          <a:p>
            <a:pPr>
              <a:spcAft>
                <a:spcPts val="100"/>
              </a:spcAft>
              <a:defRPr sz="1100" b="1">
                <a:solidFill>
                  <a:srgbClr val="34D399"/>
                </a:solidFill>
              </a:defRPr>
            </a:pPr>
            <a:r>
              <a:t>✔ End-to-End SMTP Delivery:</a:t>
            </a:r>
          </a:p>
          <a:p>
            <a:pPr>
              <a:spcAft>
                <a:spcPts val="400"/>
              </a:spcAft>
              <a:defRPr sz="1000" b="0">
                <a:solidFill>
                  <a:srgbClr val="94A3B8"/>
                </a:solidFill>
              </a:defRPr>
            </a:pPr>
            <a:r>
              <a:t>Received Gmail alerts with attached JPEG evidence within ~1.8 seconds of event trigger.</a:t>
            </a:r>
          </a:p>
          <a:p>
            <a:pPr>
              <a:spcAft>
                <a:spcPts val="100"/>
              </a:spcAft>
              <a:defRPr sz="1100" b="1">
                <a:solidFill>
                  <a:srgbClr val="34D399"/>
                </a:solidFill>
              </a:defRPr>
            </a:pPr>
            <a:r>
              <a:t>✔ Relational Database Audit:</a:t>
            </a:r>
          </a:p>
          <a:p>
            <a:pPr>
              <a:spcAft>
                <a:spcPts val="400"/>
              </a:spcAft>
              <a:defRPr sz="1000" b="0">
                <a:solidFill>
                  <a:srgbClr val="94A3B8"/>
                </a:solidFill>
              </a:defRPr>
            </a:pPr>
            <a:r>
              <a:t>All test events indexed and retrievable via view_alerts.py in security.db.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a:defRPr sz="1000" b="1">
                <a:solidFill>
                  <a:srgbClr val="38BDF8"/>
                </a:solidFill>
              </a:defRPr>
            </a:pPr>
            <a:r>
              <a:t>CRITICAL EVALUATION &amp; ROADMAP</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200" b="1">
                <a:solidFill>
                  <a:srgbClr val="F8FAFC"/>
                </a:solidFill>
              </a:defRPr>
            </a:pPr>
            <a:r>
              <a:t>Technical Limitations &amp; Future Enhancements</a:t>
            </a:r>
          </a:p>
        </p:txBody>
      </p:sp>
      <p:sp>
        <p:nvSpPr>
          <p:cNvPr id="5" name="TextBox 4"/>
          <p:cNvSpPr txBox="1"/>
          <p:nvPr/>
        </p:nvSpPr>
        <p:spPr>
          <a:xfrm>
            <a:off x="731520" y="1234440"/>
            <a:ext cx="10698480" cy="411480"/>
          </a:xfrm>
          <a:prstGeom prst="rect">
            <a:avLst/>
          </a:prstGeom>
          <a:noFill/>
        </p:spPr>
        <p:txBody>
          <a:bodyPr wrap="square" lIns="0" tIns="0">
            <a:spAutoFit/>
          </a:bodyPr>
          <a:lstStyle/>
          <a:p>
            <a:pPr>
              <a:defRPr sz="1200">
                <a:solidFill>
                  <a:srgbClr val="94A3B8"/>
                </a:solidFill>
              </a:defRPr>
            </a:pPr>
            <a:r>
              <a:t>An honest engineering critique of the prototype and strategic roadmap for enterprise scalability</a:t>
            </a:r>
          </a:p>
        </p:txBody>
      </p:sp>
      <p:sp>
        <p:nvSpPr>
          <p:cNvPr id="6" name="Rectangle 5"/>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274320"/>
          </a:xfrm>
          <a:prstGeom prst="rect">
            <a:avLst/>
          </a:prstGeom>
          <a:noFill/>
        </p:spPr>
        <p:txBody>
          <a:bodyPr wrap="none" lIns="0">
            <a:spAutoFit/>
          </a:bodyPr>
          <a:lstStyle/>
          <a:p>
            <a:pPr>
              <a:defRPr sz="900">
                <a:solidFill>
                  <a:srgbClr val="64748B"/>
                </a:solidFill>
              </a:defRPr>
            </a:pPr>
            <a:r>
              <a:t>GENKEI SOLUTIONS PRIVATE LIMITED  •  Deep Learning-Based Video Surveillance System</a:t>
            </a:r>
          </a:p>
        </p:txBody>
      </p:sp>
      <p:sp>
        <p:nvSpPr>
          <p:cNvPr id="8" name="Rounded Rectangle 7"/>
          <p:cNvSpPr/>
          <p:nvPr/>
        </p:nvSpPr>
        <p:spPr>
          <a:xfrm>
            <a:off x="7315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Current Prototype Limitations</a:t>
            </a:r>
          </a:p>
          <a:p>
            <a:pPr>
              <a:spcAft>
                <a:spcPts val="200"/>
              </a:spcAft>
              <a:defRPr sz="1100" b="1">
                <a:solidFill>
                  <a:srgbClr val="F8FAFC"/>
                </a:solidFill>
              </a:defRPr>
            </a:pPr>
            <a:r>
              <a:t>Hardcoded Pixel Coordinates:</a:t>
            </a:r>
          </a:p>
          <a:p>
            <a:pPr>
              <a:spcAft>
                <a:spcPts val="500"/>
              </a:spcAft>
              <a:defRPr sz="1000" b="0">
                <a:solidFill>
                  <a:srgbClr val="94A3B8"/>
                </a:solidFill>
              </a:defRPr>
            </a:pPr>
            <a:r>
              <a:t>Restricted zone is defined as fixed pixel boundaries (200,150 to 500,400), which requires code modification if camera angle or resolution changes.</a:t>
            </a:r>
          </a:p>
          <a:p>
            <a:pPr>
              <a:spcAft>
                <a:spcPts val="200"/>
              </a:spcAft>
              <a:defRPr sz="1100" b="1">
                <a:solidFill>
                  <a:srgbClr val="F8FAFC"/>
                </a:solidFill>
              </a:defRPr>
            </a:pPr>
            <a:r>
              <a:t>Centroid vs. Polygon Footprint:</a:t>
            </a:r>
          </a:p>
          <a:p>
            <a:pPr>
              <a:spcAft>
                <a:spcPts val="500"/>
              </a:spcAft>
              <a:defRPr sz="1000" b="0">
                <a:solidFill>
                  <a:srgbClr val="94A3B8"/>
                </a:solidFill>
              </a:defRPr>
            </a:pPr>
            <a:r>
              <a:t>Bounding box center point (cx, cy) can miss partial limb intrusions where a person's hands reach into the zone while their center remains outside.</a:t>
            </a:r>
          </a:p>
          <a:p>
            <a:pPr>
              <a:spcAft>
                <a:spcPts val="200"/>
              </a:spcAft>
              <a:defRPr sz="1100" b="1">
                <a:solidFill>
                  <a:srgbClr val="F8FAFC"/>
                </a:solidFill>
              </a:defRPr>
            </a:pPr>
            <a:r>
              <a:t>Synchronous SMTP Blocking:</a:t>
            </a:r>
          </a:p>
          <a:p>
            <a:pPr>
              <a:spcAft>
                <a:spcPts val="500"/>
              </a:spcAft>
              <a:defRPr sz="1000" b="0">
                <a:solidFill>
                  <a:srgbClr val="94A3B8"/>
                </a:solidFill>
              </a:defRPr>
            </a:pPr>
            <a:r>
              <a:t>Email transmission currently occurs in the main execution thread; slow network speeds can introduce minor latency into camera display frames.</a:t>
            </a:r>
          </a:p>
          <a:p>
            <a:pPr>
              <a:spcAft>
                <a:spcPts val="200"/>
              </a:spcAft>
              <a:defRPr sz="1100" b="1">
                <a:solidFill>
                  <a:srgbClr val="F8FAFC"/>
                </a:solidFill>
              </a:defRPr>
            </a:pPr>
            <a:r>
              <a:t>Single Camera &amp; Local DB:</a:t>
            </a:r>
          </a:p>
          <a:p>
            <a:pPr>
              <a:spcAft>
                <a:spcPts val="500"/>
              </a:spcAft>
              <a:defRPr sz="1000" b="0">
                <a:solidFill>
                  <a:srgbClr val="94A3B8"/>
                </a:solidFill>
              </a:defRPr>
            </a:pPr>
            <a:r>
              <a:t>Optimized for single-camera edge setup; lacks distributed multi-RTSP streaming or centralized PostgreSQL replication.</a:t>
            </a:r>
          </a:p>
        </p:txBody>
      </p:sp>
      <p:sp>
        <p:nvSpPr>
          <p:cNvPr id="9" name="Rounded Rectangle 8"/>
          <p:cNvSpPr/>
          <p:nvPr/>
        </p:nvSpPr>
        <p:spPr>
          <a:xfrm>
            <a:off x="6217920" y="1737360"/>
            <a:ext cx="521208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Strategic Future Roadmap</a:t>
            </a:r>
          </a:p>
          <a:p>
            <a:pPr>
              <a:spcAft>
                <a:spcPts val="200"/>
              </a:spcAft>
              <a:defRPr sz="1100" b="1">
                <a:solidFill>
                  <a:srgbClr val="F8FAFC"/>
                </a:solidFill>
              </a:defRPr>
            </a:pPr>
            <a:r>
              <a:t>Interactive GUI Zone Calibration:</a:t>
            </a:r>
          </a:p>
          <a:p>
            <a:pPr>
              <a:spcAft>
                <a:spcPts val="500"/>
              </a:spcAft>
              <a:defRPr sz="1000" b="0">
                <a:solidFill>
                  <a:srgbClr val="94A3B8"/>
                </a:solidFill>
              </a:defRPr>
            </a:pPr>
            <a:r>
              <a:t>Implement drag-and-drop polygon boundary drawing using OpenCV mouse callbacks or a PyQt/Web interface.</a:t>
            </a:r>
          </a:p>
          <a:p>
            <a:pPr>
              <a:spcAft>
                <a:spcPts val="200"/>
              </a:spcAft>
              <a:defRPr sz="1100" b="1">
                <a:solidFill>
                  <a:srgbClr val="F8FAFC"/>
                </a:solidFill>
              </a:defRPr>
            </a:pPr>
            <a:r>
              <a:t>Asynchronous Threading / Queueing:</a:t>
            </a:r>
          </a:p>
          <a:p>
            <a:pPr>
              <a:spcAft>
                <a:spcPts val="500"/>
              </a:spcAft>
              <a:defRPr sz="1000" b="0">
                <a:solidFill>
                  <a:srgbClr val="94A3B8"/>
                </a:solidFill>
              </a:defRPr>
            </a:pPr>
            <a:r>
              <a:t>Offload SMTP dispatch and SQLite writes to background threads (Celery / asyncio) to maintain unflinching 60+ FPS video rendering.</a:t>
            </a:r>
          </a:p>
          <a:p>
            <a:pPr>
              <a:spcAft>
                <a:spcPts val="200"/>
              </a:spcAft>
              <a:defRPr sz="1100" b="1">
                <a:solidFill>
                  <a:srgbClr val="F8FAFC"/>
                </a:solidFill>
              </a:defRPr>
            </a:pPr>
            <a:r>
              <a:t>Multi-Camera RTSP Network Support:</a:t>
            </a:r>
          </a:p>
          <a:p>
            <a:pPr>
              <a:spcAft>
                <a:spcPts val="500"/>
              </a:spcAft>
              <a:defRPr sz="1000" b="0">
                <a:solidFill>
                  <a:srgbClr val="94A3B8"/>
                </a:solidFill>
              </a:defRPr>
            </a:pPr>
            <a:r>
              <a:t>Extend pipeline to ingest multiple IP camera streams concurrently with camera-specific zone mappings.</a:t>
            </a:r>
          </a:p>
          <a:p>
            <a:pPr>
              <a:spcAft>
                <a:spcPts val="200"/>
              </a:spcAft>
              <a:defRPr sz="1100" b="1">
                <a:solidFill>
                  <a:srgbClr val="F8FAFC"/>
                </a:solidFill>
              </a:defRPr>
            </a:pPr>
            <a:r>
              <a:t>Enterprise Web Dashboard:</a:t>
            </a:r>
          </a:p>
          <a:p>
            <a:pPr>
              <a:spcAft>
                <a:spcPts val="500"/>
              </a:spcAft>
              <a:defRPr sz="1000" b="0">
                <a:solidFill>
                  <a:srgbClr val="94A3B8"/>
                </a:solidFill>
              </a:defRPr>
            </a:pPr>
            <a:r>
              <a:t>Build a full-stack dashboard (FastAPI + React) for live multi-camera monitoring, interactive alert filtering, and automated PDF incident reporting.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731520"/>
            <a:ext cx="9448495" cy="201168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PROJECT SUMMARY &amp; KEY ACHIEVEMENTS</a:t>
            </a:r>
          </a:p>
          <a:p>
            <a:pPr>
              <a:defRPr sz="1200" b="1">
                <a:solidFill>
                  <a:srgbClr val="F8FAFC"/>
                </a:solidFill>
              </a:defRPr>
            </a:pPr>
            <a:r>
              <a:t>• Integrated Multi-Hazard Defense: </a:t>
            </a:r>
          </a:p>
          <a:p>
            <a:pPr>
              <a:spcAft>
                <a:spcPts val="400"/>
              </a:spcAft>
              <a:defRPr sz="1100">
                <a:solidFill>
                  <a:srgbClr val="94A3B8"/>
                </a:solidFill>
              </a:defRPr>
            </a:pPr>
            <a:r>
              <a:t>   Successfully unified human tracking, perimeter security, fire/smoke detection, and weapon spotting into one cohesive pipeline.</a:t>
            </a:r>
          </a:p>
          <a:p>
            <a:pPr>
              <a:defRPr sz="1200" b="1">
                <a:solidFill>
                  <a:srgbClr val="F8FAFC"/>
                </a:solidFill>
              </a:defRPr>
            </a:pPr>
            <a:r>
              <a:t>• Temporal Stability &amp; Anti-Spam: </a:t>
            </a:r>
          </a:p>
          <a:p>
            <a:pPr>
              <a:spcAft>
                <a:spcPts val="400"/>
              </a:spcAft>
              <a:defRPr sz="1100">
                <a:solidFill>
                  <a:srgbClr val="94A3B8"/>
                </a:solidFill>
              </a:defRPr>
            </a:pPr>
            <a:r>
              <a:t>   Engineered a 3-frame confirmation engine and 30-second cooldown that eliminates transient flickers and notification flooding.</a:t>
            </a:r>
          </a:p>
          <a:p>
            <a:pPr>
              <a:defRPr sz="1200" b="1">
                <a:solidFill>
                  <a:srgbClr val="F8FAFC"/>
                </a:solidFill>
              </a:defRPr>
            </a:pPr>
            <a:r>
              <a:t>• End-to-End Verification: </a:t>
            </a:r>
          </a:p>
          <a:p>
            <a:pPr>
              <a:spcAft>
                <a:spcPts val="400"/>
              </a:spcAft>
              <a:defRPr sz="1100">
                <a:solidFill>
                  <a:srgbClr val="94A3B8"/>
                </a:solidFill>
              </a:defRPr>
            </a:pPr>
            <a:r>
              <a:t>   Empirically validated live alerting with timestamped JPEG screenshots, SQLite audit records, and verified Gmail SMTP 250 OK delivery.</a:t>
            </a:r>
          </a:p>
        </p:txBody>
      </p:sp>
      <p:sp>
        <p:nvSpPr>
          <p:cNvPr id="5" name="Rounded Rectangle 4"/>
          <p:cNvSpPr/>
          <p:nvPr/>
        </p:nvSpPr>
        <p:spPr>
          <a:xfrm>
            <a:off x="1371600" y="3017520"/>
            <a:ext cx="9448495" cy="31089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ACKNOWLEDGMENTS &amp; OPEN FOR QUESTIONS</a:t>
            </a:r>
          </a:p>
          <a:p>
            <a:pPr>
              <a:spcAft>
                <a:spcPts val="600"/>
              </a:spcAft>
              <a:defRPr sz="1600" b="1">
                <a:solidFill>
                  <a:srgbClr val="F8FAFC"/>
                </a:solidFill>
              </a:defRPr>
            </a:pPr>
            <a:r>
              <a:t>Special Gratitude to GENKEI SOLUTIONS PRIVATE LIMITED</a:t>
            </a:r>
          </a:p>
          <a:p>
            <a:pPr>
              <a:spcAft>
                <a:spcPts val="1400"/>
              </a:spcAft>
              <a:defRPr sz="1200">
                <a:solidFill>
                  <a:srgbClr val="94A3B8"/>
                </a:solidFill>
              </a:defRPr>
            </a:pPr>
            <a:r>
              <a:t>I extend my sincere appreciation to the leadership, technical mentors, and project guides at GENKEI SOLUTIONS PRIVATE LIMITED for providing the resources, guidance, and domain expertise necessary to complete this project successfully.</a:t>
            </a:r>
          </a:p>
          <a:p>
            <a:pPr algn="ctr">
              <a:defRPr sz="2800" b="1">
                <a:solidFill>
                  <a:srgbClr val="38BDF8"/>
                </a:solidFill>
              </a:defRPr>
            </a:pPr>
            <a:r>
              <a:t>THANK YOU!</a:t>
            </a:r>
          </a:p>
          <a:p>
            <a:pPr algn="ctr">
              <a:defRPr sz="1400">
                <a:solidFill>
                  <a:srgbClr val="F8FAFC"/>
                </a:solidFill>
              </a:defRPr>
            </a:pPr>
            <a:r>
              <a:t>Questions, Feedback &amp; Discussion Welcomed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